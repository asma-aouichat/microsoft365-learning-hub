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  <p:sldMasterId id="2147483653" r:id="rId3"/>
  </p:sldMasterIdLst>
  <p:notesMasterIdLst>
    <p:notesMasterId r:id="rId31"/>
  </p:notesMasterIdLst>
  <p:handoutMasterIdLst>
    <p:handoutMasterId r:id="rId32"/>
  </p:handoutMasterIdLst>
  <p:sldIdLst>
    <p:sldId id="256" r:id="rId4"/>
    <p:sldId id="485" r:id="rId5"/>
    <p:sldId id="297" r:id="rId6"/>
    <p:sldId id="311" r:id="rId7"/>
    <p:sldId id="303" r:id="rId8"/>
    <p:sldId id="326" r:id="rId9"/>
    <p:sldId id="312" r:id="rId10"/>
    <p:sldId id="313" r:id="rId11"/>
    <p:sldId id="314" r:id="rId12"/>
    <p:sldId id="316" r:id="rId13"/>
    <p:sldId id="315" r:id="rId14"/>
    <p:sldId id="347" r:id="rId15"/>
    <p:sldId id="348" r:id="rId16"/>
    <p:sldId id="349" r:id="rId17"/>
    <p:sldId id="318" r:id="rId18"/>
    <p:sldId id="317" r:id="rId19"/>
    <p:sldId id="486" r:id="rId20"/>
    <p:sldId id="414" r:id="rId21"/>
    <p:sldId id="415" r:id="rId22"/>
    <p:sldId id="416" r:id="rId23"/>
    <p:sldId id="417" r:id="rId24"/>
    <p:sldId id="418" r:id="rId25"/>
    <p:sldId id="419" r:id="rId26"/>
    <p:sldId id="420" r:id="rId27"/>
    <p:sldId id="421" r:id="rId28"/>
    <p:sldId id="482" r:id="rId29"/>
    <p:sldId id="402" r:id="rId3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 varScale="1">
        <p:scale>
          <a:sx n="128" d="100"/>
          <a:sy n="128" d="100"/>
        </p:scale>
        <p:origin x="508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3376" y="-5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35305-B13A-4D54-AA37-5C48A5194BAE}" type="datetimeFigureOut">
              <a:rPr lang="fr-FR" smtClean="0"/>
              <a:t>20/02/2021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D73C0-3EB0-493F-85BA-568868B7EB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379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0FB7C-F83F-4EB1-9185-B24EFE9878DA}" type="datetimeFigureOut">
              <a:rPr lang="fr-FR" smtClean="0"/>
              <a:t>20/02/2021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C05AE-884A-4259-B46C-1BFBDBD96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1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339502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915566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22473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179512" y="195486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104456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995686"/>
            <a:ext cx="9144000" cy="2880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131536"/>
            <a:ext cx="5796136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230919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230919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243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58354"/>
            <a:ext cx="5557838" cy="571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7825" y="971550"/>
            <a:ext cx="8343900" cy="39957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01051" y="4712494"/>
            <a:ext cx="6318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2C201-C571-47D8-A02A-CE1F7DAE9C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601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58354"/>
            <a:ext cx="5557838" cy="571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01051" y="4712494"/>
            <a:ext cx="6318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9F808-56E8-4EE0-B1F0-7CD9129F957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765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5663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 userDrawn="1"/>
        </p:nvSpPr>
        <p:spPr>
          <a:xfrm>
            <a:off x="-26321" y="4881521"/>
            <a:ext cx="2448272" cy="261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A.Aouichat</a:t>
            </a:r>
            <a:endParaRPr lang="fr-F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72" r:id="rId12"/>
    <p:sldLayoutId id="2147483656" r:id="rId13"/>
    <p:sldLayoutId id="2147483673" r:id="rId14"/>
    <p:sldLayoutId id="2147483674" r:id="rId15"/>
    <p:sldLayoutId id="2147483675" r:id="rId16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coursinfo.fr/wp-content/uploads/2015/11/Word_onglet_insertion.png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coursinfo.fr/wp-content/uploads/2016/02/insertion-image.png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www.coursinfo.fr/wp-content/uploads/2015/10/entete11.png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coursinfo.fr/wp-content/uploads/2016/02/insertion-image.png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108520" y="3435846"/>
            <a:ext cx="9396536" cy="792089"/>
          </a:xfrm>
          <a:ln w="19050">
            <a:noFill/>
          </a:ln>
        </p:spPr>
        <p:txBody>
          <a:bodyPr/>
          <a:lstStyle/>
          <a:p>
            <a:r>
              <a:rPr lang="en-US" altLang="ko-KR" dirty="0" err="1">
                <a:ea typeface="맑은 고딕" pitchFamily="50" charset="-127"/>
              </a:rPr>
              <a:t>Cours</a:t>
            </a:r>
            <a:r>
              <a:rPr lang="en-US" altLang="ko-KR" dirty="0">
                <a:ea typeface="맑은 고딕" pitchFamily="50" charset="-127"/>
              </a:rPr>
              <a:t> N 02 :</a:t>
            </a:r>
            <a:r>
              <a:rPr lang="fr-FR" altLang="ko-KR" dirty="0">
                <a:ea typeface="맑은 고딕" pitchFamily="50" charset="-127"/>
              </a:rPr>
              <a:t>Insertion</a:t>
            </a:r>
            <a:endParaRPr lang="fr-F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51520" y="4443958"/>
            <a:ext cx="9144000" cy="288032"/>
          </a:xfrm>
          <a:ln w="12700">
            <a:noFill/>
          </a:ln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dirty="0" err="1"/>
              <a:t>A.Aouichat</a:t>
            </a:r>
            <a:r>
              <a:rPr lang="en-US" altLang="ko-KR" dirty="0"/>
              <a:t>				   	asm.aouichat@gmail.com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583754" y="4371950"/>
            <a:ext cx="802069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L’onglet “Insertion” du ruban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2123728" y="771550"/>
            <a:ext cx="7042265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050" b="0" i="0" dirty="0">
                <a:solidFill>
                  <a:srgbClr val="616161"/>
                </a:solidFill>
                <a:effectLst/>
                <a:latin typeface="Open Sans"/>
              </a:rPr>
              <a:t>L’onglet “</a:t>
            </a:r>
            <a:r>
              <a:rPr lang="fr-FR" sz="1050" b="1" i="1" dirty="0">
                <a:solidFill>
                  <a:srgbClr val="FF0000"/>
                </a:solidFill>
                <a:effectLst/>
                <a:latin typeface="Open Sans"/>
              </a:rPr>
              <a:t>Insertion</a:t>
            </a:r>
            <a:r>
              <a:rPr lang="fr-FR" sz="1050" b="0" i="0" dirty="0">
                <a:solidFill>
                  <a:srgbClr val="616161"/>
                </a:solidFill>
                <a:effectLst/>
                <a:latin typeface="Open Sans"/>
              </a:rPr>
              <a:t>” fait apparaître les fonctionnalités utiles pour l’insertion d’</a:t>
            </a:r>
            <a:r>
              <a:rPr lang="fr-FR" sz="1050" b="1" i="0" dirty="0">
                <a:solidFill>
                  <a:srgbClr val="616161"/>
                </a:solidFill>
                <a:effectLst/>
                <a:latin typeface="Open Sans"/>
              </a:rPr>
              <a:t>images</a:t>
            </a:r>
            <a:r>
              <a:rPr lang="fr-FR" sz="1050" b="0" i="0" dirty="0">
                <a:solidFill>
                  <a:srgbClr val="616161"/>
                </a:solidFill>
                <a:effectLst/>
                <a:latin typeface="Open Sans"/>
              </a:rPr>
              <a:t>, de </a:t>
            </a:r>
            <a:r>
              <a:rPr lang="fr-FR" sz="1050" b="1" i="0" dirty="0">
                <a:solidFill>
                  <a:srgbClr val="616161"/>
                </a:solidFill>
                <a:effectLst/>
                <a:latin typeface="Open Sans"/>
              </a:rPr>
              <a:t>liens hypertexte</a:t>
            </a:r>
            <a:r>
              <a:rPr lang="fr-FR" sz="1050" b="0" i="0" dirty="0">
                <a:solidFill>
                  <a:srgbClr val="616161"/>
                </a:solidFill>
                <a:effectLst/>
                <a:latin typeface="Open Sans"/>
              </a:rPr>
              <a:t>, de </a:t>
            </a:r>
            <a:r>
              <a:rPr lang="fr-FR" sz="1050" b="1" i="0" dirty="0">
                <a:solidFill>
                  <a:srgbClr val="616161"/>
                </a:solidFill>
                <a:effectLst/>
                <a:latin typeface="Open Sans"/>
              </a:rPr>
              <a:t>formes</a:t>
            </a:r>
            <a:r>
              <a:rPr lang="fr-FR" sz="1050" b="0" i="0" dirty="0">
                <a:solidFill>
                  <a:srgbClr val="616161"/>
                </a:solidFill>
                <a:effectLst/>
                <a:latin typeface="Open Sans"/>
              </a:rPr>
              <a:t>, de </a:t>
            </a:r>
            <a:r>
              <a:rPr lang="fr-FR" sz="1050" b="1" i="0" dirty="0">
                <a:solidFill>
                  <a:srgbClr val="616161"/>
                </a:solidFill>
                <a:effectLst/>
                <a:latin typeface="Open Sans"/>
              </a:rPr>
              <a:t>tableaux, </a:t>
            </a:r>
            <a:r>
              <a:rPr lang="fr-FR" sz="1050" b="0" i="0" dirty="0">
                <a:solidFill>
                  <a:srgbClr val="616161"/>
                </a:solidFill>
                <a:effectLst/>
                <a:latin typeface="Open Sans"/>
              </a:rPr>
              <a:t>d’</a:t>
            </a:r>
            <a:r>
              <a:rPr lang="fr-FR" sz="1050" b="1" i="0" dirty="0">
                <a:solidFill>
                  <a:srgbClr val="616161"/>
                </a:solidFill>
                <a:effectLst/>
                <a:latin typeface="Open Sans"/>
              </a:rPr>
              <a:t>en-tête / pied de page</a:t>
            </a:r>
            <a:r>
              <a:rPr lang="fr-FR" sz="1050" b="0" i="0" dirty="0">
                <a:solidFill>
                  <a:srgbClr val="616161"/>
                </a:solidFill>
                <a:effectLst/>
                <a:latin typeface="Open Sans"/>
              </a:rPr>
              <a:t> …</a:t>
            </a:r>
          </a:p>
          <a:p>
            <a:br>
              <a:rPr lang="fr-FR" sz="1050" b="0" i="0" u="none" strike="noStrike" dirty="0">
                <a:solidFill>
                  <a:srgbClr val="6F92C3"/>
                </a:solidFill>
                <a:effectLst/>
                <a:latin typeface="Open Sans"/>
                <a:hlinkClick r:id="rId2"/>
              </a:rPr>
            </a:br>
            <a:endParaRPr lang="fr-FR" sz="15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530" name="Picture 2" descr="Word_onglet_insertion">
            <a:extLst>
              <a:ext uri="{FF2B5EF4-FFF2-40B4-BE49-F238E27FC236}">
                <a16:creationId xmlns:a16="http://schemas.microsoft.com/office/drawing/2014/main" id="{9082C958-E76C-4FB1-BB1E-F9118C995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4846"/>
            <a:ext cx="9144000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45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3586163" y="158750"/>
            <a:ext cx="5557837" cy="5715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Vocabulaire</a:t>
            </a:r>
            <a:endParaRPr lang="en-US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3</a:t>
            </a:fld>
            <a:endParaRPr lang="fr-BE"/>
          </a:p>
        </p:txBody>
      </p:sp>
      <p:sp>
        <p:nvSpPr>
          <p:cNvPr id="6" name="Rectangle 5"/>
          <p:cNvSpPr/>
          <p:nvPr/>
        </p:nvSpPr>
        <p:spPr>
          <a:xfrm>
            <a:off x="1223628" y="0"/>
            <a:ext cx="459051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dirty="0">
                <a:solidFill>
                  <a:schemeClr val="bg1"/>
                </a:solidFill>
              </a:rPr>
              <a:t>Chapitre 2: </a:t>
            </a:r>
            <a:r>
              <a:rPr lang="en-US" sz="1350" dirty="0">
                <a:solidFill>
                  <a:schemeClr val="bg1"/>
                </a:solidFill>
              </a:rPr>
              <a:t>Microsoft Word </a:t>
            </a:r>
            <a:r>
              <a:rPr lang="fr-FR" sz="1350" dirty="0">
                <a:solidFill>
                  <a:schemeClr val="bg1"/>
                </a:solidFill>
              </a:rPr>
              <a:t>1: </a:t>
            </a:r>
            <a:r>
              <a:rPr lang="fr-FR" sz="1350" b="1" dirty="0">
                <a:solidFill>
                  <a:schemeClr val="bg1"/>
                </a:solidFill>
              </a:rPr>
              <a:t>Les tableaux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2050" name="Picture 2" descr="Lignes, colonnes et cellu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626" y="1275327"/>
            <a:ext cx="6606992" cy="334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979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07504" y="101200"/>
            <a:ext cx="8208912" cy="74295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/>
            <a:r>
              <a:rPr lang="fr-FR" sz="3000" b="1" dirty="0"/>
              <a:t>Insérer un tableau dans un document :</a:t>
            </a:r>
            <a:endParaRPr lang="en-US" sz="3000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4</a:t>
            </a:fld>
            <a:endParaRPr lang="fr-BE"/>
          </a:p>
        </p:txBody>
      </p:sp>
      <p:sp>
        <p:nvSpPr>
          <p:cNvPr id="6" name="Rectangle 5"/>
          <p:cNvSpPr/>
          <p:nvPr/>
        </p:nvSpPr>
        <p:spPr>
          <a:xfrm>
            <a:off x="1223628" y="0"/>
            <a:ext cx="459051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dirty="0">
                <a:solidFill>
                  <a:schemeClr val="bg1"/>
                </a:solidFill>
              </a:rPr>
              <a:t>Chapitre 2: </a:t>
            </a:r>
            <a:r>
              <a:rPr lang="en-US" sz="1350" dirty="0">
                <a:solidFill>
                  <a:schemeClr val="bg1"/>
                </a:solidFill>
              </a:rPr>
              <a:t>Microsoft Word </a:t>
            </a:r>
            <a:r>
              <a:rPr lang="fr-FR" sz="1350" dirty="0">
                <a:solidFill>
                  <a:schemeClr val="bg1"/>
                </a:solidFill>
              </a:rPr>
              <a:t>1: </a:t>
            </a:r>
            <a:r>
              <a:rPr lang="fr-FR" sz="1350" b="1" dirty="0">
                <a:solidFill>
                  <a:schemeClr val="bg1"/>
                </a:solidFill>
              </a:rPr>
              <a:t>Les tableaux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3074" name="Picture 2" descr="Insertion d'un tableau dans le docu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1005576"/>
            <a:ext cx="6779756" cy="38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677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619672" y="78033"/>
            <a:ext cx="6172200" cy="7429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fr-FR" b="1" dirty="0"/>
              <a:t>Insérer un tableau dans un document :</a:t>
            </a:r>
            <a:endParaRPr lang="en-US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5</a:t>
            </a:fld>
            <a:endParaRPr lang="fr-BE"/>
          </a:p>
        </p:txBody>
      </p:sp>
      <p:sp>
        <p:nvSpPr>
          <p:cNvPr id="6" name="Rectangle 5"/>
          <p:cNvSpPr/>
          <p:nvPr/>
        </p:nvSpPr>
        <p:spPr>
          <a:xfrm>
            <a:off x="1223628" y="0"/>
            <a:ext cx="459051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dirty="0">
                <a:solidFill>
                  <a:schemeClr val="bg1"/>
                </a:solidFill>
              </a:rPr>
              <a:t>Chapitre 2: </a:t>
            </a:r>
            <a:r>
              <a:rPr lang="en-US" sz="1350" dirty="0">
                <a:solidFill>
                  <a:schemeClr val="bg1"/>
                </a:solidFill>
              </a:rPr>
              <a:t>Microsoft Word </a:t>
            </a:r>
            <a:r>
              <a:rPr lang="fr-FR" sz="1350" dirty="0">
                <a:solidFill>
                  <a:schemeClr val="bg1"/>
                </a:solidFill>
              </a:rPr>
              <a:t>1: </a:t>
            </a:r>
            <a:r>
              <a:rPr lang="fr-FR" sz="1350" b="1" dirty="0">
                <a:solidFill>
                  <a:schemeClr val="bg1"/>
                </a:solidFill>
              </a:rPr>
              <a:t>Les tableaux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3076" name="Picture 4" descr="https://www.progresser-en-informatique.com/wp-content/uploads/word2010-onglet-insertion-tableau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611" y="897564"/>
            <a:ext cx="6445198" cy="395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918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447800" y="-117124"/>
            <a:ext cx="7156648" cy="74295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fr-FR" sz="3000" b="1" dirty="0"/>
              <a:t>Insérer un tableau dans un document :</a:t>
            </a:r>
            <a:endParaRPr lang="en-US" sz="3000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6</a:t>
            </a:fld>
            <a:endParaRPr lang="fr-BE"/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4098" name="Picture 2" descr="Un tableau peut également être défini avec la boîte de dialogue Insérer un tabl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772" y="951570"/>
            <a:ext cx="4932499" cy="378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043608" y="-96012"/>
            <a:ext cx="6696744" cy="74295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sz="3000" b="1" dirty="0"/>
              <a:t>Modifier un tableau existent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7</a:t>
            </a:fld>
            <a:endParaRPr lang="fr-BE"/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17410" name="Picture 2" descr="https://www.progresser-en-informatique.com/wp-content/uploads/word2010-onglet-insertion-tableau-exe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307" y="951570"/>
            <a:ext cx="6598053" cy="391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877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043608" y="-20538"/>
            <a:ext cx="7272808" cy="74295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fr-FR" sz="3000" b="1" dirty="0"/>
              <a:t>Ajouter une nouvelle ligne ou une </a:t>
            </a:r>
            <a:br>
              <a:rPr lang="fr-FR" sz="3000" b="1" dirty="0"/>
            </a:br>
            <a:r>
              <a:rPr lang="fr-FR" sz="3000" b="1" dirty="0"/>
              <a:t>nouvelle colonne à un tableau existant</a:t>
            </a:r>
            <a:endParaRPr lang="en-US" sz="3000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8</a:t>
            </a:fld>
            <a:endParaRPr lang="fr-BE"/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16386" name="Picture 2" descr="https://www.progresser-en-informatique.com/wp-content/uploads/word2010-onglet-disposition-ajouter-nouvelle-ligne-tableau-685x36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634" y="1059582"/>
            <a:ext cx="6606091" cy="372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938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331640" y="-92546"/>
            <a:ext cx="6172200" cy="7429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fr-FR" b="1" dirty="0"/>
              <a:t>supprimer une ligne, une colonne ou un tableau entier</a:t>
            </a:r>
            <a:r>
              <a:rPr lang="fr-FR" dirty="0"/>
              <a:t> :</a:t>
            </a:r>
            <a:endParaRPr lang="en-US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9</a:t>
            </a:fld>
            <a:endParaRPr lang="fr-BE"/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15362" name="Picture 2" descr="https://www.progresser-en-informatique.com/wp-content/uploads/word2010-onglet-disposition-supprimer-tableau-685x36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04" y="1167594"/>
            <a:ext cx="6827698" cy="362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343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115616" y="-92546"/>
            <a:ext cx="7488832" cy="7429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fr-FR" b="1" dirty="0"/>
              <a:t>Fusion de deux ou plusieurs </a:t>
            </a:r>
            <a:br>
              <a:rPr lang="fr-FR" b="1" dirty="0"/>
            </a:br>
            <a:r>
              <a:rPr lang="fr-FR" b="1" dirty="0"/>
              <a:t>cellules</a:t>
            </a:r>
            <a:endParaRPr lang="en-US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10</a:t>
            </a:fld>
            <a:endParaRPr lang="fr-BE"/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13314" name="Picture 2" descr="https://www.progresser-en-informatique.com/wp-content/uploads/word2010-onglet-disposition-fusionner-cellules-685x36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280" y="1221600"/>
            <a:ext cx="6604459" cy="3509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167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277634" y="-20538"/>
            <a:ext cx="6964288" cy="74295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fr-FR" sz="3000" b="1" dirty="0"/>
              <a:t>Fusion de deux ou plusieurs cellules</a:t>
            </a:r>
            <a:endParaRPr lang="en-US" sz="3000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11</a:t>
            </a:fld>
            <a:endParaRPr lang="fr-BE"/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14338" name="Picture 2" descr="https://www.progresser-en-informatique.com/wp-content/uploads/word2010-onglet-disposition-fusionner-cellules-exe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843" y="897564"/>
            <a:ext cx="6202505" cy="382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024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447800" y="-28191"/>
            <a:ext cx="6868616" cy="7429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Les bordures </a:t>
            </a:r>
            <a:r>
              <a:rPr lang="en-US" dirty="0" err="1"/>
              <a:t>transparentes</a:t>
            </a:r>
            <a:endParaRPr lang="en-US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12</a:t>
            </a:fld>
            <a:endParaRPr lang="fr-BE"/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20482" name="Picture 2" descr="https://www.progresser-en-informatique.com/wp-content/uploads/word2010-selectionner-tableau-enti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772" y="851284"/>
            <a:ext cx="6588732" cy="401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879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331640" y="0"/>
            <a:ext cx="6172200" cy="7429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Aucune</a:t>
            </a:r>
            <a:r>
              <a:rPr lang="en-US" b="1" dirty="0"/>
              <a:t> bordure 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13</a:t>
            </a:fld>
            <a:endParaRPr lang="fr-BE"/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19458" name="Picture 2" descr="https://www.progresser-en-informatique.com/wp-content/uploads/word2010-comment-faire-un-tableau-transpare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646" y="1005576"/>
            <a:ext cx="6264696" cy="384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121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184031" y="0"/>
            <a:ext cx="6172200" cy="74295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fr-FR" sz="3000" b="1" dirty="0"/>
              <a:t>Comment faciliter la lecture d’un tableau avec des couleurs</a:t>
            </a:r>
            <a:endParaRPr lang="en-US" sz="3000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14</a:t>
            </a:fld>
            <a:endParaRPr lang="fr-BE"/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10242" name="Picture 2" descr="https://www.progresser-en-informatique.com/wp-content/uploads/word2010-onglet-creation-styles-tableau-685x36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164" y="1059582"/>
            <a:ext cx="6809356" cy="3799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843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197007" y="-95863"/>
            <a:ext cx="6172200" cy="74295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fr-FR" sz="2500" b="1" dirty="0"/>
              <a:t>uniformiser</a:t>
            </a:r>
            <a:r>
              <a:rPr lang="fr-FR" sz="2500" dirty="0"/>
              <a:t> </a:t>
            </a:r>
            <a:r>
              <a:rPr lang="fr-FR" sz="2500" b="1" dirty="0"/>
              <a:t>la largeur et la hauteur des lignes et des colonnes d’un tableau</a:t>
            </a:r>
            <a:endParaRPr lang="en-US" sz="2500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15</a:t>
            </a:fld>
            <a:endParaRPr lang="fr-BE"/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11266" name="Picture 2" descr="https://www.progresser-en-informatique.com/wp-content/uploads/word2010-uniformiser-tableau-685x36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890" y="1113588"/>
            <a:ext cx="6707723" cy="3564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5936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277634" y="-117512"/>
            <a:ext cx="6172200" cy="74295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fr-FR" sz="2500" b="1" dirty="0"/>
              <a:t>Ajuster la largeur et la hauteur d’une ligne ou d’une colonne</a:t>
            </a:r>
            <a:endParaRPr lang="en-US" sz="2500" b="1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4294967295"/>
          </p:nvPr>
        </p:nvSpPr>
        <p:spPr>
          <a:xfrm>
            <a:off x="6972300" y="4732338"/>
            <a:ext cx="2171700" cy="246062"/>
          </a:xfrm>
          <a:prstGeom prst="rect">
            <a:avLst/>
          </a:prstGeom>
        </p:spPr>
        <p:txBody>
          <a:bodyPr/>
          <a:lstStyle/>
          <a:p>
            <a:fld id="{44C75232-271B-407A-A128-5AD569B82869}" type="datetime1">
              <a:rPr lang="fr-FR" smtClean="0"/>
              <a:t>20/02/2021</a:t>
            </a:fld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0" y="4686300"/>
            <a:ext cx="2895600" cy="342900"/>
          </a:xfrm>
          <a:prstGeom prst="rect">
            <a:avLst/>
          </a:prstGeom>
        </p:spPr>
        <p:txBody>
          <a:bodyPr/>
          <a:lstStyle/>
          <a:p>
            <a:fld id="{CF4668DC-857F-487D-BFFA-8C0CA5037977}" type="slidenum">
              <a:rPr lang="fr-BE" smtClean="0"/>
              <a:t>16</a:t>
            </a:fld>
            <a:endParaRPr lang="fr-BE"/>
          </a:p>
        </p:txBody>
      </p:sp>
      <p:sp>
        <p:nvSpPr>
          <p:cNvPr id="7" name="Espace réservé de la date 3"/>
          <p:cNvSpPr txBox="1">
            <a:spLocks/>
          </p:cNvSpPr>
          <p:nvPr/>
        </p:nvSpPr>
        <p:spPr>
          <a:xfrm>
            <a:off x="5544108" y="4868037"/>
            <a:ext cx="2171700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4C75232-271B-407A-A128-5AD569B82869}" type="datetime1">
              <a:rPr lang="fr-FR" sz="900" b="1">
                <a:solidFill>
                  <a:srgbClr val="0070C0"/>
                </a:solidFill>
              </a:rPr>
              <a:pPr algn="r"/>
              <a:t>20/02/2021</a:t>
            </a:fld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8" name="Espace réservé de la date 3"/>
          <p:cNvSpPr txBox="1">
            <a:spLocks/>
          </p:cNvSpPr>
          <p:nvPr/>
        </p:nvSpPr>
        <p:spPr>
          <a:xfrm>
            <a:off x="1277634" y="4858893"/>
            <a:ext cx="140415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Asma Aouichat (MDI)</a:t>
            </a:r>
            <a:endParaRPr lang="fr-BE" sz="900" b="1" dirty="0">
              <a:solidFill>
                <a:srgbClr val="0070C0"/>
              </a:solidFill>
            </a:endParaRPr>
          </a:p>
        </p:txBody>
      </p:sp>
      <p:sp>
        <p:nvSpPr>
          <p:cNvPr id="9" name="Espace réservé de la date 3"/>
          <p:cNvSpPr txBox="1">
            <a:spLocks/>
          </p:cNvSpPr>
          <p:nvPr/>
        </p:nvSpPr>
        <p:spPr>
          <a:xfrm>
            <a:off x="3653898" y="4849749"/>
            <a:ext cx="2214246" cy="246888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900" b="1" dirty="0">
                <a:solidFill>
                  <a:srgbClr val="0070C0"/>
                </a:solidFill>
              </a:rPr>
              <a:t>Module : Outils informatiques</a:t>
            </a:r>
            <a:endParaRPr lang="fr-BE" sz="900" b="1" dirty="0">
              <a:solidFill>
                <a:srgbClr val="0070C0"/>
              </a:solidFill>
            </a:endParaRPr>
          </a:p>
        </p:txBody>
      </p:sp>
      <p:pic>
        <p:nvPicPr>
          <p:cNvPr id="12290" name="Picture 2" descr="https://www.progresser-en-informatique.com/wp-content/uploads/word2010-ajuster-cellule-tableau-curseu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634" y="1033765"/>
            <a:ext cx="6588732" cy="376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288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17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des formes prédéfinies (cercle, carré …)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835973" y="771549"/>
            <a:ext cx="7330019" cy="3229907"/>
          </a:xfrm>
          <a:prstGeom prst="rect">
            <a:avLst/>
          </a:prstGeom>
        </p:spPr>
        <p:txBody>
          <a:bodyPr/>
          <a:lstStyle/>
          <a:p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Vous pouvez très facilement insérer un carré, un rectangle, triangle ou toute autre forme prédéfinie dans la bibliothèque des formes de Word. </a:t>
            </a:r>
          </a:p>
          <a:p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Cliquez sur Insertion&gt; Illustrations&gt; Formes&gt; Rectangle</a:t>
            </a:r>
            <a:br>
              <a:rPr lang="fr-FR" sz="1500" dirty="0">
                <a:hlinkClick r:id="rId2"/>
              </a:rPr>
            </a:br>
            <a:endParaRPr lang="fr-FR" sz="15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  <p:pic>
        <p:nvPicPr>
          <p:cNvPr id="23554" name="Picture 2" descr="insertion_formes">
            <a:extLst>
              <a:ext uri="{FF2B5EF4-FFF2-40B4-BE49-F238E27FC236}">
                <a16:creationId xmlns:a16="http://schemas.microsoft.com/office/drawing/2014/main" id="{608FC235-0092-4CA1-AD69-9305FBAA9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095499"/>
            <a:ext cx="5328592" cy="1776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717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18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un en-tête ou un pied de page dans Word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403648" y="771550"/>
            <a:ext cx="4824537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500" b="0" i="0" dirty="0">
                <a:effectLst/>
                <a:latin typeface="Open Sans"/>
              </a:rPr>
              <a:t>Les </a:t>
            </a:r>
            <a:r>
              <a:rPr lang="fr-FR" sz="1500" b="1" i="0" dirty="0">
                <a:effectLst/>
                <a:latin typeface="Open Sans"/>
              </a:rPr>
              <a:t>en-têtes</a:t>
            </a:r>
            <a:r>
              <a:rPr lang="fr-FR" sz="1500" b="0" i="0" dirty="0">
                <a:effectLst/>
                <a:latin typeface="Open Sans"/>
              </a:rPr>
              <a:t> et les </a:t>
            </a:r>
            <a:r>
              <a:rPr lang="fr-FR" sz="1500" b="1" i="0" dirty="0">
                <a:effectLst/>
                <a:latin typeface="Open Sans"/>
              </a:rPr>
              <a:t>pieds de page</a:t>
            </a:r>
            <a:r>
              <a:rPr lang="fr-FR" sz="1500" b="0" i="0" dirty="0">
                <a:effectLst/>
                <a:latin typeface="Open Sans"/>
              </a:rPr>
              <a:t> sont les zones qui apparaissent dans les </a:t>
            </a:r>
            <a:r>
              <a:rPr lang="fr-FR" sz="1500" b="1" i="0" dirty="0">
                <a:effectLst/>
                <a:latin typeface="Open Sans"/>
              </a:rPr>
              <a:t>marges haute</a:t>
            </a:r>
            <a:r>
              <a:rPr lang="fr-FR" sz="1500" b="0" i="0" dirty="0">
                <a:effectLst/>
                <a:latin typeface="Open Sans"/>
              </a:rPr>
              <a:t> et </a:t>
            </a:r>
            <a:r>
              <a:rPr lang="fr-FR" sz="1500" b="1" i="0" dirty="0">
                <a:effectLst/>
                <a:latin typeface="Open Sans"/>
              </a:rPr>
              <a:t>basse</a:t>
            </a:r>
            <a:r>
              <a:rPr lang="fr-FR" sz="1500" b="0" i="0" dirty="0">
                <a:effectLst/>
                <a:latin typeface="Open Sans"/>
              </a:rPr>
              <a:t> de chaque page dans un document.</a:t>
            </a:r>
          </a:p>
          <a:p>
            <a:endParaRPr lang="fr-FR" sz="1500" u="none" strike="noStrike" dirty="0">
              <a:solidFill>
                <a:srgbClr val="0000FF"/>
              </a:solidFill>
              <a:effectLst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fr-FR" sz="1500" dirty="0">
              <a:solidFill>
                <a:srgbClr val="0000FF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fr-FR" sz="1500" u="none" strike="noStrike" dirty="0">
              <a:solidFill>
                <a:srgbClr val="0000FF"/>
              </a:solidFill>
              <a:effectLst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fr-FR" sz="1500" dirty="0">
              <a:solidFill>
                <a:srgbClr val="0000FF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fr-FR" sz="1500" u="none" strike="noStrike" dirty="0">
              <a:solidFill>
                <a:srgbClr val="0000FF"/>
              </a:solidFill>
              <a:effectLst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fr-FR" sz="15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fr-FR" sz="1500" dirty="0"/>
              <a:t>Vous pouvez insérer ou modifier le texte ou les graphismes dans les </a:t>
            </a:r>
            <a:r>
              <a:rPr lang="fr-FR" sz="1500" b="1" dirty="0">
                <a:effectLst/>
              </a:rPr>
              <a:t>en-têtes</a:t>
            </a:r>
            <a:r>
              <a:rPr lang="fr-FR" sz="1500" dirty="0"/>
              <a:t> et les </a:t>
            </a:r>
            <a:r>
              <a:rPr lang="fr-FR" sz="1500" b="1" dirty="0">
                <a:effectLst/>
              </a:rPr>
              <a:t>pieds de page</a:t>
            </a:r>
            <a:r>
              <a:rPr lang="fr-FR" sz="1500" dirty="0"/>
              <a:t>.</a:t>
            </a:r>
          </a:p>
          <a:p>
            <a:r>
              <a:rPr lang="fr-FR" sz="1500" dirty="0"/>
              <a:t>Par exemple, vous pouvez ajouter des </a:t>
            </a:r>
            <a:r>
              <a:rPr lang="fr-FR" sz="1500" b="1" dirty="0">
                <a:effectLst/>
              </a:rPr>
              <a:t>numéros de page, l’heure, la date, un logo de société, le titre du document, le nom du fichier ou le nom de l’auteur.</a:t>
            </a:r>
            <a:br>
              <a:rPr lang="fr-FR" sz="1500" u="none" strike="noStrike" dirty="0"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lang="fr-FR" sz="1500" b="0" i="0" dirty="0">
              <a:effectLst/>
              <a:latin typeface="Open Sans"/>
            </a:endParaRPr>
          </a:p>
        </p:txBody>
      </p:sp>
      <p:pic>
        <p:nvPicPr>
          <p:cNvPr id="11266" name="Picture 2" descr="word entete">
            <a:extLst>
              <a:ext uri="{FF2B5EF4-FFF2-40B4-BE49-F238E27FC236}">
                <a16:creationId xmlns:a16="http://schemas.microsoft.com/office/drawing/2014/main" id="{A9B9AD26-EA60-4D3F-94FA-48FA397F7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886745"/>
            <a:ext cx="2854821" cy="365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360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19</a:t>
            </a:fld>
            <a:endParaRPr lang="fr-FR" altLang="fr-FR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Insertion Entête ou Pied de page.</a:t>
            </a:r>
            <a:br>
              <a:rPr lang="fr-FR" sz="2800" dirty="0"/>
            </a:b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19672" y="973774"/>
            <a:ext cx="7589582" cy="3326168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 accéder à l’entête comme au pied de page, cliquez sur l’onglet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puis sur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 algn="l">
              <a:buNone/>
            </a:pP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Entête ou Pied de page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fr-FR" sz="15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5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5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5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Vous pouvez utiliser des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en-têtes et pieds de page prédéfinis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 algn="l">
              <a:buNone/>
            </a:pP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les choisissant dans les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listes proposées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br>
              <a:rPr lang="fr-FR" sz="1500" dirty="0">
                <a:solidFill>
                  <a:srgbClr val="6F92C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 descr="word menu entête pied de page">
            <a:extLst>
              <a:ext uri="{FF2B5EF4-FFF2-40B4-BE49-F238E27FC236}">
                <a16:creationId xmlns:a16="http://schemas.microsoft.com/office/drawing/2014/main" id="{2607B75D-36C7-4CD3-BC57-3C651BC55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93168"/>
            <a:ext cx="8782050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word menu entete">
            <a:extLst>
              <a:ext uri="{FF2B5EF4-FFF2-40B4-BE49-F238E27FC236}">
                <a16:creationId xmlns:a16="http://schemas.microsoft.com/office/drawing/2014/main" id="{04D7BB45-FF4F-46D2-9B70-0ABDC6237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514" y="2855065"/>
            <a:ext cx="2173982" cy="2080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213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20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Insertion Entête ou Pied de page.</a:t>
            </a:r>
            <a:br>
              <a:rPr lang="fr-FR" sz="2800" dirty="0"/>
            </a:b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 c’est le cas, vous avez alors accès à un menu supplémentaire concernant la </a:t>
            </a:r>
            <a:r>
              <a:rPr lang="fr-FR" sz="13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création des entêtes et pieds de page</a:t>
            </a: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3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3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3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3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utilisant les différentes options à votre disposition, vous pourrez paramétrer votre document selon vos propres choix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Numéro de page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dans notre exemple ci-dessus),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fr-FR" sz="1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heure</a:t>
            </a:r>
            <a:r>
              <a:rPr lang="fr-FR" sz="1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(avec actualisation),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0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Première page différente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0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Marges de l’en-tête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et 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 pied de page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  Etc….</a:t>
            </a:r>
          </a:p>
          <a:p>
            <a:pPr algn="l"/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 insérer le </a:t>
            </a:r>
            <a:r>
              <a:rPr lang="fr-FR" sz="13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nombre total de pages</a:t>
            </a: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d’un document dans un pied de page par exemple , on pourra utiliser un champ spécifique (« </a:t>
            </a:r>
            <a:r>
              <a:rPr lang="fr-FR" sz="1300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Numpages</a:t>
            </a: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»). Pour cela, on pourra utiliser la procédure suivante 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 descr="entete4">
            <a:extLst>
              <a:ext uri="{FF2B5EF4-FFF2-40B4-BE49-F238E27FC236}">
                <a16:creationId xmlns:a16="http://schemas.microsoft.com/office/drawing/2014/main" id="{7F652032-256C-4A42-B5E0-77D21F354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347614"/>
            <a:ext cx="9001125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854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21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 err="1"/>
              <a:t>inserer</a:t>
            </a:r>
            <a:r>
              <a:rPr lang="fr-FR" sz="2800" dirty="0"/>
              <a:t> une image dans un document Word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Open Sans"/>
              </a:rPr>
              <a:t>Pour insérer une image stockée sur votre ordinateur, rien de plus simple :</a:t>
            </a:r>
          </a:p>
          <a:p>
            <a:pPr lvl="1">
              <a:buFont typeface="+mj-lt"/>
              <a:buAutoNum type="arabicPeriod"/>
            </a:pPr>
            <a:r>
              <a:rPr lang="fr-FR" sz="1500" b="0" i="0" dirty="0">
                <a:solidFill>
                  <a:srgbClr val="616161"/>
                </a:solidFill>
                <a:effectLst/>
                <a:latin typeface="Open Sans"/>
              </a:rPr>
              <a:t>cliquez dans le document à l’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Open Sans"/>
              </a:rPr>
              <a:t>emplacement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Open Sans"/>
              </a:rPr>
              <a:t> prévu pour l’image</a:t>
            </a:r>
          </a:p>
          <a:p>
            <a:pPr lvl="1">
              <a:buFont typeface="+mj-lt"/>
              <a:buAutoNum type="arabicPeriod"/>
            </a:pPr>
            <a:r>
              <a:rPr lang="fr-FR" sz="1500" b="0" i="0" dirty="0">
                <a:solidFill>
                  <a:srgbClr val="616161"/>
                </a:solidFill>
                <a:effectLst/>
                <a:latin typeface="Open Sans"/>
              </a:rPr>
              <a:t>cliquez sur le bouton </a:t>
            </a:r>
            <a:r>
              <a:rPr lang="fr-FR" sz="1500" b="1" i="0" dirty="0">
                <a:solidFill>
                  <a:srgbClr val="FF0000"/>
                </a:solidFill>
                <a:effectLst/>
                <a:latin typeface="Open Sans"/>
              </a:rPr>
              <a:t>Images 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Open Sans"/>
              </a:rPr>
              <a:t>de l’onglet </a:t>
            </a:r>
            <a:r>
              <a:rPr lang="fr-FR" sz="1500" b="1" i="0" dirty="0">
                <a:solidFill>
                  <a:srgbClr val="000000"/>
                </a:solidFill>
                <a:effectLst/>
                <a:latin typeface="Open Sans"/>
              </a:rPr>
              <a:t>Insertion</a:t>
            </a:r>
            <a:endParaRPr lang="fr-FR" sz="15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lvl="1">
              <a:buFont typeface="+mj-lt"/>
              <a:buAutoNum type="arabicPeriod"/>
            </a:pPr>
            <a:r>
              <a:rPr lang="fr-FR" sz="1500" b="0" i="0" dirty="0">
                <a:solidFill>
                  <a:srgbClr val="616161"/>
                </a:solidFill>
                <a:effectLst/>
                <a:latin typeface="Open Sans"/>
              </a:rPr>
              <a:t>parcourir l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Open Sans"/>
              </a:rPr>
              <a:t>‘arborescence des dossiers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Open Sans"/>
              </a:rPr>
              <a:t> de votre ordinateur pour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Open Sans"/>
              </a:rPr>
              <a:t> sélectionner une image</a:t>
            </a:r>
            <a:endParaRPr lang="fr-FR" sz="15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lvl="1">
              <a:buFont typeface="+mj-lt"/>
              <a:buAutoNum type="arabicPeriod"/>
            </a:pPr>
            <a:r>
              <a:rPr lang="fr-FR" sz="1500" b="0" i="0" dirty="0">
                <a:solidFill>
                  <a:srgbClr val="616161"/>
                </a:solidFill>
                <a:effectLst/>
                <a:latin typeface="Open Sans"/>
              </a:rPr>
              <a:t>valider en cliquant sur le bouton </a:t>
            </a:r>
            <a:r>
              <a:rPr lang="fr-FR" sz="1500" b="0" i="0" dirty="0">
                <a:solidFill>
                  <a:srgbClr val="FF0000"/>
                </a:solidFill>
                <a:effectLst/>
                <a:latin typeface="Open Sans"/>
              </a:rPr>
              <a:t>Insérer</a:t>
            </a:r>
            <a:endParaRPr lang="fr-FR" sz="15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  <p:pic>
        <p:nvPicPr>
          <p:cNvPr id="14338" name="Picture 2" descr="parcourir image">
            <a:extLst>
              <a:ext uri="{FF2B5EF4-FFF2-40B4-BE49-F238E27FC236}">
                <a16:creationId xmlns:a16="http://schemas.microsoft.com/office/drawing/2014/main" id="{5090B76F-DC69-49FD-9842-4B27367BB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0"/>
            <a:ext cx="76708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01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22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une image dans un document Word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r>
              <a:rPr lang="fr-FR" sz="1500" b="1" dirty="0"/>
              <a:t>L’image apparait alors dans le document</a:t>
            </a:r>
            <a:r>
              <a:rPr lang="fr-FR" sz="1500" dirty="0"/>
              <a:t> à l’emplacement prévu :</a:t>
            </a:r>
          </a:p>
          <a:p>
            <a:br>
              <a:rPr lang="fr-FR" sz="1500" dirty="0">
                <a:hlinkClick r:id="rId2"/>
              </a:rPr>
            </a:br>
            <a:endParaRPr lang="fr-FR" sz="15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  <p:pic>
        <p:nvPicPr>
          <p:cNvPr id="15362" name="Picture 2" descr="insertion image">
            <a:extLst>
              <a:ext uri="{FF2B5EF4-FFF2-40B4-BE49-F238E27FC236}">
                <a16:creationId xmlns:a16="http://schemas.microsoft.com/office/drawing/2014/main" id="{DB4E4FB9-2167-4B3A-B469-CBECF5333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156224"/>
            <a:ext cx="2693913" cy="364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371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23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Positionner une image dans le texte avec Word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0" y="771550"/>
            <a:ext cx="6228183" cy="3744416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Word vous permet d’</a:t>
            </a:r>
            <a:r>
              <a:rPr lang="fr-FR" sz="1200" b="1" i="0" dirty="0">
                <a:solidFill>
                  <a:srgbClr val="616161"/>
                </a:solidFill>
                <a:effectLst/>
                <a:latin typeface="Open Sans"/>
              </a:rPr>
              <a:t>habiller facilement des images</a:t>
            </a: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, des formes et des tableaux </a:t>
            </a:r>
          </a:p>
          <a:p>
            <a:pPr marL="0" indent="0" algn="l">
              <a:buNone/>
            </a:pP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avec du texte. Vous pouvez positionner ce texte à votre guise et lui appliquer le style de </a:t>
            </a:r>
          </a:p>
          <a:p>
            <a:pPr marL="0" indent="0" algn="l">
              <a:buNone/>
            </a:pP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votre choix. </a:t>
            </a:r>
          </a:p>
          <a:p>
            <a:pPr marL="0" indent="0" algn="l">
              <a:buNone/>
            </a:pP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Par exemple, vous pouvez </a:t>
            </a:r>
            <a:r>
              <a:rPr lang="fr-FR" sz="1200" b="1" i="0" dirty="0">
                <a:solidFill>
                  <a:srgbClr val="616161"/>
                </a:solidFill>
                <a:effectLst/>
                <a:latin typeface="Open Sans"/>
              </a:rPr>
              <a:t>choisir que le texte</a:t>
            </a: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 continue </a:t>
            </a:r>
            <a:r>
              <a:rPr lang="fr-FR" sz="1200" b="1" i="0" dirty="0">
                <a:solidFill>
                  <a:srgbClr val="616161"/>
                </a:solidFill>
                <a:effectLst/>
                <a:latin typeface="Open Sans"/>
              </a:rPr>
              <a:t>autour de l’image</a:t>
            </a: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 ou au contraire la </a:t>
            </a:r>
            <a:r>
              <a:rPr lang="fr-FR" sz="1200" b="1" i="0" dirty="0">
                <a:solidFill>
                  <a:srgbClr val="616161"/>
                </a:solidFill>
                <a:effectLst/>
                <a:latin typeface="Open Sans"/>
              </a:rPr>
              <a:t>traverse</a:t>
            </a: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200" dirty="0">
              <a:solidFill>
                <a:srgbClr val="616161"/>
              </a:solidFill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Dans votre document,</a:t>
            </a:r>
            <a:r>
              <a:rPr lang="fr-FR" sz="1200" b="1" i="0" dirty="0">
                <a:solidFill>
                  <a:srgbClr val="616161"/>
                </a:solidFill>
                <a:effectLst/>
                <a:latin typeface="Open Sans"/>
              </a:rPr>
              <a:t> </a:t>
            </a:r>
            <a:r>
              <a:rPr lang="fr-FR" sz="1200" b="1" i="0" dirty="0">
                <a:solidFill>
                  <a:srgbClr val="800000"/>
                </a:solidFill>
                <a:effectLst/>
                <a:latin typeface="Open Sans"/>
              </a:rPr>
              <a:t>cliquez sur l’image</a:t>
            </a: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 pour la sélectionner.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Cliquez sur l’onglet </a:t>
            </a:r>
            <a:r>
              <a:rPr lang="fr-FR" sz="1200" b="1" i="0" dirty="0">
                <a:solidFill>
                  <a:srgbClr val="616161"/>
                </a:solidFill>
                <a:effectLst/>
                <a:latin typeface="Open Sans"/>
              </a:rPr>
              <a:t>Format,</a:t>
            </a:r>
            <a:endParaRPr lang="fr-FR" sz="12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puis dans le groupe </a:t>
            </a:r>
            <a:r>
              <a:rPr lang="fr-FR" sz="1200" b="1" i="0" dirty="0">
                <a:solidFill>
                  <a:srgbClr val="616161"/>
                </a:solidFill>
                <a:effectLst/>
                <a:latin typeface="Open Sans"/>
              </a:rPr>
              <a:t>organiser</a:t>
            </a: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, cliquez sur le bouton </a:t>
            </a:r>
            <a:r>
              <a:rPr lang="fr-FR" sz="1200" b="1" i="0" dirty="0">
                <a:solidFill>
                  <a:srgbClr val="FF0000"/>
                </a:solidFill>
                <a:effectLst/>
                <a:latin typeface="Open Sans"/>
              </a:rPr>
              <a:t>Habillage</a:t>
            </a:r>
            <a:endParaRPr lang="fr-FR" sz="12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Effectuez l’une des actions suivantes 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Cliquez sur le </a:t>
            </a:r>
            <a:r>
              <a:rPr lang="fr-FR" sz="1200" b="1" i="0" dirty="0">
                <a:solidFill>
                  <a:srgbClr val="616161"/>
                </a:solidFill>
                <a:effectLst/>
                <a:latin typeface="Open Sans"/>
              </a:rPr>
              <a:t>carré</a:t>
            </a: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 pour habiller le texte autour de la bordure de votre image.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Cliquez sur </a:t>
            </a:r>
            <a:r>
              <a:rPr lang="fr-FR" sz="1200" b="1" i="0" dirty="0">
                <a:solidFill>
                  <a:srgbClr val="616161"/>
                </a:solidFill>
                <a:effectLst/>
                <a:latin typeface="Open Sans"/>
              </a:rPr>
              <a:t>rapproché</a:t>
            </a: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 pour habiller le texte autour d’une image de forme irrégulière en étroite collaboration.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Cliquez sur </a:t>
            </a:r>
            <a:r>
              <a:rPr lang="fr-FR" sz="1200" b="1" i="0" dirty="0">
                <a:solidFill>
                  <a:srgbClr val="616161"/>
                </a:solidFill>
                <a:effectLst/>
                <a:latin typeface="Open Sans"/>
              </a:rPr>
              <a:t>Autres Options de disposition </a:t>
            </a: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et puis cliquez sur l’onglet </a:t>
            </a:r>
            <a:r>
              <a:rPr lang="fr-FR" sz="1200" b="1" i="0" dirty="0">
                <a:solidFill>
                  <a:srgbClr val="616161"/>
                </a:solidFill>
                <a:effectLst/>
                <a:latin typeface="Open Sans"/>
              </a:rPr>
              <a:t>Habillage du texte</a:t>
            </a:r>
            <a:r>
              <a:rPr lang="fr-FR" sz="1200" b="0" i="0" dirty="0">
                <a:solidFill>
                  <a:srgbClr val="616161"/>
                </a:solidFill>
                <a:effectLst/>
                <a:latin typeface="Open Sans"/>
              </a:rPr>
              <a:t> pour choisir un style d’habillage : encadré, aligné sur le texte …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2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  <p:pic>
        <p:nvPicPr>
          <p:cNvPr id="16388" name="Picture 4" descr="Menu habillage de texte">
            <a:extLst>
              <a:ext uri="{FF2B5EF4-FFF2-40B4-BE49-F238E27FC236}">
                <a16:creationId xmlns:a16="http://schemas.microsoft.com/office/drawing/2014/main" id="{8160D903-FC45-42F8-B834-FD0A7C2E5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771550"/>
            <a:ext cx="2752725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535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24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choisir un style attrayant pour votre image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Word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 vous permet d’attribuer 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différents effets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 tels que des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Open Sans"/>
              </a:rPr>
              <a:t>bordures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 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ou des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Open Sans"/>
              </a:rPr>
              <a:t>ombres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 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à votre 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image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Dans votre document,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 cliquez sur l’image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 pour la sélectionner.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Cliquez sur l’onglet 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Format,</a:t>
            </a:r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puis dans le groupe 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Styles d’image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, cliquez sur 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un style qui vous convient</a:t>
            </a:r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4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  <p:pic>
        <p:nvPicPr>
          <p:cNvPr id="17410" name="Picture 2" descr="style image">
            <a:extLst>
              <a:ext uri="{FF2B5EF4-FFF2-40B4-BE49-F238E27FC236}">
                <a16:creationId xmlns:a16="http://schemas.microsoft.com/office/drawing/2014/main" id="{50625E7B-B223-4A93-AD68-BA28DECB6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259" y="1635646"/>
            <a:ext cx="3240360" cy="282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682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25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un graphique SmartArt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Un graphique 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SmartArt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 donne une 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représentation visuelle d’informations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, permettant de communiquer un message plus efficacement. Les graphiques SmartArt peuvent être des listes graphiques, des diagrammes de processus, des organigrammes, des graphiques complexes …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000" dirty="0">
              <a:solidFill>
                <a:srgbClr val="616161"/>
              </a:solidFill>
              <a:latin typeface="Open Sans"/>
            </a:endParaRPr>
          </a:p>
          <a:p>
            <a:pPr algn="l"/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Effectuez l’une des opérations suivantes :</a:t>
            </a:r>
          </a:p>
          <a:p>
            <a:pPr algn="l"/>
            <a:r>
              <a:rPr lang="fr-FR" sz="800" b="1" i="0" dirty="0">
                <a:solidFill>
                  <a:srgbClr val="616161"/>
                </a:solidFill>
                <a:effectLst/>
                <a:latin typeface="Open Sans"/>
              </a:rPr>
              <a:t>Insérer un graphique SmartArt et ajouter du texte</a:t>
            </a:r>
            <a:endParaRPr lang="fr-FR" sz="8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+mj-lt"/>
              <a:buAutoNum type="arabicPeriod"/>
            </a:pPr>
            <a:r>
              <a:rPr lang="fr-FR" sz="800" b="0" i="0" dirty="0">
                <a:solidFill>
                  <a:srgbClr val="616161"/>
                </a:solidFill>
                <a:effectLst/>
                <a:latin typeface="Open Sans"/>
              </a:rPr>
              <a:t>Sous l’onglet </a:t>
            </a:r>
            <a:r>
              <a:rPr lang="fr-FR" sz="800" b="1" i="0" dirty="0">
                <a:solidFill>
                  <a:srgbClr val="616161"/>
                </a:solidFill>
                <a:effectLst/>
                <a:latin typeface="Open Sans"/>
              </a:rPr>
              <a:t>Insertion</a:t>
            </a:r>
            <a:r>
              <a:rPr lang="fr-FR" sz="800" b="0" i="0" dirty="0">
                <a:solidFill>
                  <a:srgbClr val="616161"/>
                </a:solidFill>
                <a:effectLst/>
                <a:latin typeface="Open Sans"/>
              </a:rPr>
              <a:t>, dans le groupe</a:t>
            </a:r>
            <a:r>
              <a:rPr lang="fr-FR" sz="800" b="1" i="0" dirty="0">
                <a:solidFill>
                  <a:srgbClr val="616161"/>
                </a:solidFill>
                <a:effectLst/>
                <a:latin typeface="Open Sans"/>
              </a:rPr>
              <a:t> Illustrations, </a:t>
            </a:r>
            <a:r>
              <a:rPr lang="fr-FR" sz="800" b="0" i="0" dirty="0">
                <a:solidFill>
                  <a:srgbClr val="616161"/>
                </a:solidFill>
                <a:effectLst/>
                <a:latin typeface="Open Sans"/>
              </a:rPr>
              <a:t>cliquez sur le bouton</a:t>
            </a:r>
            <a:r>
              <a:rPr lang="fr-FR" sz="800" b="1" i="0" dirty="0">
                <a:solidFill>
                  <a:srgbClr val="FF0000"/>
                </a:solidFill>
                <a:effectLst/>
                <a:latin typeface="Open Sans"/>
              </a:rPr>
              <a:t> SmartArt</a:t>
            </a:r>
          </a:p>
          <a:p>
            <a:pPr algn="l">
              <a:buFont typeface="+mj-lt"/>
              <a:buAutoNum type="arabicPeriod"/>
            </a:pPr>
            <a:endParaRPr lang="fr-FR" sz="800" b="1" dirty="0">
              <a:solidFill>
                <a:srgbClr val="FF0000"/>
              </a:solidFill>
              <a:latin typeface="Open Sans"/>
            </a:endParaRPr>
          </a:p>
          <a:p>
            <a:pPr algn="l">
              <a:buFont typeface="+mj-lt"/>
              <a:buAutoNum type="arabicPeriod"/>
            </a:pPr>
            <a:endParaRPr lang="fr-FR" sz="800" b="1" i="0" dirty="0">
              <a:solidFill>
                <a:srgbClr val="FF0000"/>
              </a:solidFill>
              <a:effectLst/>
              <a:latin typeface="Open Sans"/>
            </a:endParaRPr>
          </a:p>
          <a:p>
            <a:pPr algn="l">
              <a:buFont typeface="+mj-lt"/>
              <a:buAutoNum type="arabicPeriod"/>
            </a:pPr>
            <a:endParaRPr lang="fr-FR" sz="800" b="1" dirty="0">
              <a:solidFill>
                <a:srgbClr val="FF0000"/>
              </a:solidFill>
              <a:latin typeface="Open Sans"/>
            </a:endParaRPr>
          </a:p>
          <a:p>
            <a:pPr algn="l">
              <a:buFont typeface="+mj-lt"/>
              <a:buAutoNum type="arabicPeriod"/>
            </a:pPr>
            <a:endParaRPr lang="fr-FR" sz="800" b="1" i="0" dirty="0">
              <a:solidFill>
                <a:srgbClr val="FF0000"/>
              </a:solidFill>
              <a:effectLst/>
              <a:latin typeface="Open Sans"/>
            </a:endParaRPr>
          </a:p>
          <a:p>
            <a:pPr algn="l">
              <a:buFont typeface="+mj-lt"/>
              <a:buAutoNum type="arabicPeriod"/>
            </a:pPr>
            <a:endParaRPr lang="fr-FR" sz="800" b="1" dirty="0">
              <a:solidFill>
                <a:srgbClr val="FF0000"/>
              </a:solidFill>
              <a:latin typeface="Open Sans"/>
            </a:endParaRPr>
          </a:p>
          <a:p>
            <a:pPr algn="l">
              <a:buFont typeface="+mj-lt"/>
              <a:buAutoNum type="arabicPeriod"/>
            </a:pPr>
            <a:endParaRPr lang="fr-FR" sz="800" b="1" i="0" dirty="0">
              <a:solidFill>
                <a:srgbClr val="FF0000"/>
              </a:solidFill>
              <a:effectLst/>
              <a:latin typeface="Open Sans"/>
            </a:endParaRPr>
          </a:p>
          <a:p>
            <a:pPr algn="l">
              <a:buFont typeface="+mj-lt"/>
              <a:buAutoNum type="arabicPeriod"/>
            </a:pPr>
            <a:endParaRPr lang="fr-FR" sz="800" b="1" dirty="0">
              <a:solidFill>
                <a:srgbClr val="FF0000"/>
              </a:solidFill>
              <a:latin typeface="Open Sans"/>
            </a:endParaRPr>
          </a:p>
          <a:p>
            <a:pPr algn="l">
              <a:buFont typeface="+mj-lt"/>
              <a:buAutoNum type="arabicPeriod"/>
            </a:pPr>
            <a:endParaRPr lang="fr-FR" sz="800" b="1" i="0" dirty="0">
              <a:solidFill>
                <a:srgbClr val="FF0000"/>
              </a:solidFill>
              <a:effectLst/>
              <a:latin typeface="Open Sans"/>
            </a:endParaRPr>
          </a:p>
          <a:p>
            <a:pPr algn="l">
              <a:buFont typeface="+mj-lt"/>
              <a:buAutoNum type="arabicPeriod"/>
            </a:pPr>
            <a:endParaRPr lang="fr-FR" sz="800" b="1" dirty="0">
              <a:solidFill>
                <a:srgbClr val="FF0000"/>
              </a:solidFill>
              <a:latin typeface="Open Sans"/>
            </a:endParaRPr>
          </a:p>
          <a:p>
            <a:pPr algn="l">
              <a:buFont typeface="+mj-lt"/>
              <a:buAutoNum type="arabicPeriod"/>
            </a:pPr>
            <a:endParaRPr lang="fr-FR" sz="800" b="1" i="0" dirty="0">
              <a:solidFill>
                <a:srgbClr val="FF0000"/>
              </a:solidFill>
              <a:effectLst/>
              <a:latin typeface="Open Sans"/>
            </a:endParaRPr>
          </a:p>
          <a:p>
            <a:pPr algn="l">
              <a:buFont typeface="+mj-lt"/>
              <a:buAutoNum type="arabicPeriod"/>
            </a:pPr>
            <a:endParaRPr lang="fr-FR" sz="800" b="1" dirty="0">
              <a:solidFill>
                <a:srgbClr val="FF0000"/>
              </a:solidFill>
              <a:latin typeface="Open Sans"/>
            </a:endParaRPr>
          </a:p>
          <a:p>
            <a:pPr algn="l">
              <a:buFont typeface="+mj-lt"/>
              <a:buAutoNum type="arabicPeriod"/>
            </a:pPr>
            <a:r>
              <a:rPr lang="fr-FR" sz="800" b="0" i="0" dirty="0">
                <a:solidFill>
                  <a:srgbClr val="616161"/>
                </a:solidFill>
                <a:effectLst/>
                <a:latin typeface="Open Sans"/>
              </a:rPr>
              <a:t>cliquez sur le graphique </a:t>
            </a:r>
            <a:r>
              <a:rPr lang="fr-FR" sz="800" b="1" i="0" dirty="0">
                <a:solidFill>
                  <a:srgbClr val="616161"/>
                </a:solidFill>
                <a:effectLst/>
                <a:latin typeface="Open Sans"/>
              </a:rPr>
              <a:t>SmartArt</a:t>
            </a:r>
            <a:r>
              <a:rPr lang="fr-FR" sz="800" b="0" i="0" dirty="0">
                <a:solidFill>
                  <a:srgbClr val="616161"/>
                </a:solidFill>
                <a:effectLst/>
                <a:latin typeface="Open Sans"/>
              </a:rPr>
              <a:t> qui convient le mieux à votre présentation</a:t>
            </a:r>
          </a:p>
          <a:p>
            <a:br>
              <a:rPr lang="fr-FR" sz="1000" dirty="0"/>
            </a:br>
            <a:endParaRPr lang="fr-FR" sz="14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  <p:pic>
        <p:nvPicPr>
          <p:cNvPr id="18434" name="Picture 2" descr="menu SmartArt">
            <a:extLst>
              <a:ext uri="{FF2B5EF4-FFF2-40B4-BE49-F238E27FC236}">
                <a16:creationId xmlns:a16="http://schemas.microsoft.com/office/drawing/2014/main" id="{EAC68A1C-5F7D-4974-8606-11C0641F5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739" y="1275606"/>
            <a:ext cx="2854200" cy="1506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choisir un graphique smartart">
            <a:extLst>
              <a:ext uri="{FF2B5EF4-FFF2-40B4-BE49-F238E27FC236}">
                <a16:creationId xmlns:a16="http://schemas.microsoft.com/office/drawing/2014/main" id="{A9D6A7F2-98B3-436F-9960-3D4A41D03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2791916"/>
            <a:ext cx="2800548" cy="1524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143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26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un graphique SmartArt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graphique sélectionné apparait dans le document à l’endroit pointé par le curseur de saisie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5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1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1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1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1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1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1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1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1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500" b="1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Dans le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Volet de texte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tapez le texte à inclure dans le graphique </a:t>
            </a:r>
            <a:r>
              <a:rPr lang="fr-FR" sz="1500" b="0" i="0" dirty="0" err="1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SmartArt.Lorsque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vous avez terminé, cliquez sur le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pour fermer le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Volet de texte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5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58" name="Picture 2" descr="smartart exemple">
            <a:extLst>
              <a:ext uri="{FF2B5EF4-FFF2-40B4-BE49-F238E27FC236}">
                <a16:creationId xmlns:a16="http://schemas.microsoft.com/office/drawing/2014/main" id="{DC90B8B8-4164-44A4-9722-218CEBAB5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275606"/>
            <a:ext cx="4423023" cy="186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903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Question ?</a:t>
            </a:r>
            <a:endParaRPr lang="ko-KR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765746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11633</TotalTime>
  <Words>1086</Words>
  <Application>Microsoft Office PowerPoint</Application>
  <PresentationFormat>Affichage à l'écran (16:9)</PresentationFormat>
  <Paragraphs>207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27</vt:i4>
      </vt:variant>
    </vt:vector>
  </HeadingPairs>
  <TitlesOfParts>
    <vt:vector size="34" baseType="lpstr">
      <vt:lpstr>Arial</vt:lpstr>
      <vt:lpstr>Calibri</vt:lpstr>
      <vt:lpstr>Open Sans</vt:lpstr>
      <vt:lpstr>Times New Roman</vt:lpstr>
      <vt:lpstr>Cover and End Slide Master</vt:lpstr>
      <vt:lpstr>Contents Slide Master</vt:lpstr>
      <vt:lpstr>Section Break Slide Master</vt:lpstr>
      <vt:lpstr>Présentation PowerPoint</vt:lpstr>
      <vt:lpstr>L’onglet “Insertion” du ruban</vt:lpstr>
      <vt:lpstr>Vocabulaire</vt:lpstr>
      <vt:lpstr>Insérer un tableau dans un document :</vt:lpstr>
      <vt:lpstr>Insérer un tableau dans un document :</vt:lpstr>
      <vt:lpstr>Insérer un tableau dans un document :</vt:lpstr>
      <vt:lpstr>Modifier un tableau existent</vt:lpstr>
      <vt:lpstr>Ajouter une nouvelle ligne ou une  nouvelle colonne à un tableau existant</vt:lpstr>
      <vt:lpstr>supprimer une ligne, une colonne ou un tableau entier :</vt:lpstr>
      <vt:lpstr>Fusion de deux ou plusieurs  cellules</vt:lpstr>
      <vt:lpstr>Fusion de deux ou plusieurs cellules</vt:lpstr>
      <vt:lpstr>Les bordures transparentes</vt:lpstr>
      <vt:lpstr>Aucune bordure </vt:lpstr>
      <vt:lpstr>Comment faciliter la lecture d’un tableau avec des couleurs</vt:lpstr>
      <vt:lpstr>uniformiser la largeur et la hauteur des lignes et des colonnes d’un tableau</vt:lpstr>
      <vt:lpstr>Ajuster la largeur et la hauteur d’une ligne ou d’une colonne</vt:lpstr>
      <vt:lpstr>insérer des formes prédéfinies (cercle, carré …)</vt:lpstr>
      <vt:lpstr>insérer un en-tête ou un pied de page dans Word</vt:lpstr>
      <vt:lpstr>Insertion Entête ou Pied de page. </vt:lpstr>
      <vt:lpstr>Insertion Entête ou Pied de page. </vt:lpstr>
      <vt:lpstr>inserer une image dans un document Word</vt:lpstr>
      <vt:lpstr>insérer une image dans un document Word</vt:lpstr>
      <vt:lpstr>Positionner une image dans le texte avec Word</vt:lpstr>
      <vt:lpstr>choisir un style attrayant pour votre image</vt:lpstr>
      <vt:lpstr>insérer un graphique SmartArt</vt:lpstr>
      <vt:lpstr>insérer un graphique SmartArt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AsmaAouichat@mdibs.onmicrosoft.com</cp:lastModifiedBy>
  <cp:revision>503</cp:revision>
  <dcterms:created xsi:type="dcterms:W3CDTF">2016-12-05T23:26:54Z</dcterms:created>
  <dcterms:modified xsi:type="dcterms:W3CDTF">2021-02-20T18:59:53Z</dcterms:modified>
</cp:coreProperties>
</file>