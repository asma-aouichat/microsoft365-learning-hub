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14"/>
  </p:notesMasterIdLst>
  <p:handoutMasterIdLst>
    <p:handoutMasterId r:id="rId15"/>
  </p:handoutMasterIdLst>
  <p:sldIdLst>
    <p:sldId id="256" r:id="rId4"/>
    <p:sldId id="414" r:id="rId5"/>
    <p:sldId id="415" r:id="rId6"/>
    <p:sldId id="416" r:id="rId7"/>
    <p:sldId id="408" r:id="rId8"/>
    <p:sldId id="412" r:id="rId9"/>
    <p:sldId id="417" r:id="rId10"/>
    <p:sldId id="418" r:id="rId11"/>
    <p:sldId id="419" r:id="rId12"/>
    <p:sldId id="402" r:id="rId1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748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 Placeholder 2"/>
          <p:cNvSpPr txBox="1">
            <a:spLocks/>
          </p:cNvSpPr>
          <p:nvPr userDrawn="1"/>
        </p:nvSpPr>
        <p:spPr>
          <a:xfrm>
            <a:off x="3171458" y="4882137"/>
            <a:ext cx="5976664" cy="261363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Tx/>
              <a:buNone/>
            </a:pPr>
            <a:r>
              <a:rPr lang="en-US" altLang="ko-KR" sz="1200" b="1" dirty="0" err="1">
                <a:ea typeface="맑은 고딕" pitchFamily="50" charset="-127"/>
              </a:rPr>
              <a:t>Cours</a:t>
            </a:r>
            <a:r>
              <a:rPr lang="en-US" altLang="ko-KR" sz="1200" b="1" dirty="0">
                <a:ea typeface="맑은 고딕" pitchFamily="50" charset="-127"/>
              </a:rPr>
              <a:t> N 01 :Table de matière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>
                <a:ea typeface="맑은 고딕" pitchFamily="50" charset="-127"/>
              </a:rPr>
              <a:t>Cours</a:t>
            </a:r>
            <a:r>
              <a:rPr lang="en-US" altLang="ko-KR" dirty="0">
                <a:ea typeface="맑은 고딕" pitchFamily="50" charset="-127"/>
              </a:rPr>
              <a:t> </a:t>
            </a:r>
            <a:r>
              <a:rPr lang="en-US" altLang="ko-KR">
                <a:ea typeface="맑은 고딕" pitchFamily="50" charset="-127"/>
              </a:rPr>
              <a:t>N 04 </a:t>
            </a:r>
            <a:r>
              <a:rPr lang="en-US" altLang="ko-KR" dirty="0">
                <a:ea typeface="맑은 고딕" pitchFamily="50" charset="-127"/>
              </a:rPr>
              <a:t>:</a:t>
            </a:r>
            <a:r>
              <a:rPr lang="fr-FR" sz="3600" b="1" dirty="0"/>
              <a:t>Table des matières Word : </a:t>
            </a:r>
            <a:br>
              <a:rPr lang="fr-FR" sz="3600" b="1" dirty="0"/>
            </a:br>
            <a:r>
              <a:rPr lang="fr-FR" sz="3600" b="1" dirty="0"/>
              <a:t>création, mise à jour et alternatives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/>
              <a:t>A.Aouichat</a:t>
            </a:r>
            <a:r>
              <a:rPr lang="en-US" altLang="ko-KR" dirty="0"/>
              <a:t>				   	asm.aouichat@gmail.com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051720" y="1491630"/>
            <a:ext cx="7114272" cy="3960440"/>
          </a:xfrm>
          <a:prstGeom prst="rect">
            <a:avLst/>
          </a:prstGeom>
        </p:spPr>
        <p:txBody>
          <a:bodyPr/>
          <a:lstStyle/>
          <a:p>
            <a:r>
              <a:rPr lang="fr-FR" sz="1800" dirty="0"/>
              <a:t>Une table des matières est surtout utile dans un document long et structuré. Elle sert dans ce cas 3 objectifs :</a:t>
            </a:r>
          </a:p>
          <a:p>
            <a:endParaRPr lang="fr-FR" sz="1800" dirty="0"/>
          </a:p>
          <a:p>
            <a:r>
              <a:rPr lang="fr-FR" sz="1800" dirty="0"/>
              <a:t>Elle donne un aperçu rapide de la structure du document</a:t>
            </a:r>
          </a:p>
          <a:p>
            <a:r>
              <a:rPr lang="fr-FR" sz="1800" dirty="0"/>
              <a:t>Elle permet d’accéder rapidement à un chapitre particulier en cliquant sur une entrée alors que la touche CTRL est enfoncée.</a:t>
            </a:r>
          </a:p>
          <a:p>
            <a:r>
              <a:rPr lang="fr-FR" sz="1800" dirty="0"/>
              <a:t>Elle donne les numéros de pages des chapitres, ce qui est utile si le document est imprimé sur papier.</a:t>
            </a:r>
          </a:p>
          <a:p>
            <a:r>
              <a:rPr lang="fr-FR" sz="1800" dirty="0"/>
              <a:t>Elle est donc utile à la fois sur écran et sur papier.</a:t>
            </a:r>
          </a:p>
        </p:txBody>
      </p:sp>
    </p:spTree>
    <p:extLst>
      <p:ext uri="{BB962C8B-B14F-4D97-AF65-F5344CB8AC3E}">
        <p14:creationId xmlns:p14="http://schemas.microsoft.com/office/powerpoint/2010/main" val="29153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Étapes de création de la table des matières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75656" y="843558"/>
            <a:ext cx="7690336" cy="4608512"/>
          </a:xfrm>
          <a:prstGeom prst="rect">
            <a:avLst/>
          </a:prstGeom>
        </p:spPr>
        <p:txBody>
          <a:bodyPr/>
          <a:lstStyle/>
          <a:p>
            <a:r>
              <a:rPr lang="fr-FR" sz="1800" dirty="0"/>
              <a:t>Vous pouvez toujours créer une table des matières dès le départ, </a:t>
            </a:r>
          </a:p>
          <a:p>
            <a:pPr marL="0" indent="0">
              <a:buNone/>
            </a:pPr>
            <a:r>
              <a:rPr lang="fr-FR" sz="1800" dirty="0"/>
              <a:t>      mais elle sera vide et vous ne pourrez pas voir à quoi elle ressemble.</a:t>
            </a:r>
          </a:p>
          <a:p>
            <a:pPr marL="0" indent="0">
              <a:buNone/>
            </a:pPr>
            <a:r>
              <a:rPr lang="fr-FR" sz="1800" dirty="0"/>
              <a:t> </a:t>
            </a:r>
          </a:p>
          <a:p>
            <a:pPr marL="984250" indent="-176213">
              <a:buFont typeface="Wingdings" panose="05000000000000000000" pitchFamily="2" charset="2"/>
              <a:buChar char="Ø"/>
            </a:pPr>
            <a:r>
              <a:rPr lang="fr-FR" sz="1800" dirty="0"/>
              <a:t>Donc commencez par créer la structure de votre document avec des titres et sous-titres avant de créer une table des matières. </a:t>
            </a:r>
          </a:p>
          <a:p>
            <a:pPr marL="984250" indent="-176213">
              <a:buFont typeface="Wingdings" panose="05000000000000000000" pitchFamily="2" charset="2"/>
              <a:buChar char="Ø"/>
            </a:pPr>
            <a:endParaRPr lang="fr-FR" sz="1800" dirty="0"/>
          </a:p>
          <a:p>
            <a:pPr marL="984250" indent="-176213">
              <a:buFont typeface="Wingdings" panose="05000000000000000000" pitchFamily="2" charset="2"/>
              <a:buChar char="Ø"/>
            </a:pPr>
            <a:r>
              <a:rPr lang="fr-FR" sz="1800" dirty="0"/>
              <a:t>Une fois les titres du document bien définis, la création de la table des matières est très simple :</a:t>
            </a:r>
          </a:p>
          <a:p>
            <a:pPr marL="984250" indent="-176213">
              <a:buFont typeface="Wingdings" panose="05000000000000000000" pitchFamily="2" charset="2"/>
              <a:buChar char="Ø"/>
            </a:pPr>
            <a:endParaRPr lang="fr-FR" sz="1800" dirty="0"/>
          </a:p>
          <a:p>
            <a:pPr marL="984250" indent="-176213">
              <a:buFont typeface="Wingdings" panose="05000000000000000000" pitchFamily="2" charset="2"/>
              <a:buChar char="Ø"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88853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Étapes de création de la table des matières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75656" y="843558"/>
            <a:ext cx="7690336" cy="4608512"/>
          </a:xfrm>
          <a:prstGeom prst="rect">
            <a:avLst/>
          </a:prstGeom>
        </p:spPr>
        <p:txBody>
          <a:bodyPr/>
          <a:lstStyle/>
          <a:p>
            <a:pPr marL="355600" indent="-176213">
              <a:buFont typeface="Wingdings" panose="05000000000000000000" pitchFamily="2" charset="2"/>
              <a:buChar char="Ø"/>
            </a:pPr>
            <a:r>
              <a:rPr lang="fr-FR" sz="1800" dirty="0"/>
              <a:t>Placez le curseur au début du document, après son titre et/ou sa page de garde</a:t>
            </a:r>
          </a:p>
          <a:p>
            <a:pPr marL="355600" indent="-176213">
              <a:buFont typeface="Wingdings" panose="05000000000000000000" pitchFamily="2" charset="2"/>
              <a:buChar char="Ø"/>
            </a:pPr>
            <a:r>
              <a:rPr lang="fr-FR" sz="1800" dirty="0"/>
              <a:t>Dans le ruban Références, déroulez la liste « Table des matières » et cliquez sur celle qui vous plait</a:t>
            </a:r>
          </a:p>
          <a:p>
            <a:pPr marL="355600" indent="-176213">
              <a:buFont typeface="Wingdings" panose="05000000000000000000" pitchFamily="2" charset="2"/>
              <a:buChar char="Ø"/>
            </a:pPr>
            <a:r>
              <a:rPr lang="fr-FR" sz="1800" dirty="0"/>
              <a:t>Si les modèles proposés ne vous conviennent pas, vous pouvez créer une table des </a:t>
            </a:r>
            <a:r>
              <a:rPr lang="fr-FR" sz="1800" b="1" u="sng" dirty="0"/>
              <a:t>matières</a:t>
            </a:r>
            <a:r>
              <a:rPr lang="fr-FR" sz="1800" dirty="0"/>
              <a:t> </a:t>
            </a:r>
            <a:r>
              <a:rPr lang="fr-FR" sz="1800" b="1" u="sng" dirty="0"/>
              <a:t>personnalisée</a:t>
            </a:r>
            <a:r>
              <a:rPr lang="fr-FR" sz="1800" dirty="0"/>
              <a:t> en choisissant « Table des matières personnalisée… » dans la liste. </a:t>
            </a:r>
          </a:p>
          <a:p>
            <a:pPr marL="355600" indent="-176213">
              <a:buFont typeface="Wingdings" panose="05000000000000000000" pitchFamily="2" charset="2"/>
              <a:buChar char="Ø"/>
            </a:pPr>
            <a:r>
              <a:rPr lang="fr-FR" sz="1800" dirty="0"/>
              <a:t>Cela permet d’ouvrir la boîte de dialogue ci-dessous :</a:t>
            </a:r>
          </a:p>
        </p:txBody>
      </p:sp>
      <p:pic>
        <p:nvPicPr>
          <p:cNvPr id="3076" name="Picture 4" descr="Options de table des matières">
            <a:extLst>
              <a:ext uri="{FF2B5EF4-FFF2-40B4-BE49-F238E27FC236}">
                <a16:creationId xmlns:a16="http://schemas.microsoft.com/office/drawing/2014/main" id="{C3EDED14-CC3E-4018-8C94-439979572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915566"/>
            <a:ext cx="515302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91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La table des matières en Word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-36512" y="627534"/>
            <a:ext cx="4027486" cy="432048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fr-FR" sz="1800" dirty="0"/>
              <a:t>Dans cette boîte de dialogue, vous pouvez choisir :</a:t>
            </a:r>
          </a:p>
          <a:p>
            <a:pPr marL="446088" lvl="1" indent="-265113"/>
            <a:r>
              <a:rPr lang="fr-FR" sz="1400" dirty="0"/>
              <a:t>D’afficher ou non les numéros de pages</a:t>
            </a:r>
          </a:p>
          <a:p>
            <a:pPr marL="446088" lvl="1" indent="-265113"/>
            <a:r>
              <a:rPr lang="fr-FR" sz="1400" dirty="0"/>
              <a:t>D’aligner ou non les numéros à droite</a:t>
            </a:r>
          </a:p>
          <a:p>
            <a:pPr marL="446088" lvl="1" indent="-265113"/>
            <a:r>
              <a:rPr lang="fr-FR" sz="1400" dirty="0"/>
              <a:t>Un format parmi une liste de formats prédéfinis</a:t>
            </a:r>
          </a:p>
          <a:p>
            <a:pPr marL="446088" lvl="1" indent="-265113"/>
            <a:r>
              <a:rPr lang="fr-FR" sz="1400" dirty="0"/>
              <a:t>Le nombre de niveaux de titres à afficher</a:t>
            </a:r>
          </a:p>
        </p:txBody>
      </p:sp>
      <p:pic>
        <p:nvPicPr>
          <p:cNvPr id="5" name="Picture 4" descr="Options de table des matières">
            <a:extLst>
              <a:ext uri="{FF2B5EF4-FFF2-40B4-BE49-F238E27FC236}">
                <a16:creationId xmlns:a16="http://schemas.microsoft.com/office/drawing/2014/main" id="{3795467E-F530-4A79-BAEE-64AC98659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646113"/>
            <a:ext cx="515302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87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La table des matières en Word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547664" y="771550"/>
            <a:ext cx="7618328" cy="468052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fr-FR" sz="1500" dirty="0"/>
              <a:t>Dans la boîte de dialogue « Table des matières », cliquez sur le bouton « Options » pour ouvrir cet écran :</a:t>
            </a:r>
          </a:p>
          <a:p>
            <a:pPr marL="0" indent="0">
              <a:buNone/>
            </a:pPr>
            <a:endParaRPr lang="fr-FR" sz="1500" dirty="0"/>
          </a:p>
          <a:p>
            <a:pPr marL="0" indent="0">
              <a:buNone/>
            </a:pPr>
            <a:endParaRPr lang="fr-FR" sz="11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8653AC-6A89-4AC2-8AFC-B542D7BA6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85" y="1398060"/>
            <a:ext cx="4661073" cy="34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28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Étapes de création de la table des matières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979712" y="843558"/>
            <a:ext cx="7186280" cy="4608512"/>
          </a:xfrm>
          <a:prstGeom prst="rect">
            <a:avLst/>
          </a:prstGeom>
        </p:spPr>
        <p:txBody>
          <a:bodyPr/>
          <a:lstStyle/>
          <a:p>
            <a:r>
              <a:rPr lang="fr-FR" sz="1800" dirty="0"/>
              <a:t>Comme vous pouvez le constater, les trois styles, Titre 1, Titre 2 </a:t>
            </a:r>
          </a:p>
          <a:p>
            <a:pPr marL="0" indent="0">
              <a:buNone/>
            </a:pPr>
            <a:r>
              <a:rPr lang="fr-FR" sz="1800" dirty="0"/>
              <a:t>     et Titre 3, sont mappés en tant que niveaux 1. 2 et 3.</a:t>
            </a:r>
          </a:p>
          <a:p>
            <a:r>
              <a:rPr lang="fr-FR" sz="1800" dirty="0"/>
              <a:t>Descendez ou remontez dans les cases jusqu'à trouver le titre, </a:t>
            </a:r>
          </a:p>
          <a:p>
            <a:pPr marL="0" indent="0">
              <a:buNone/>
            </a:pPr>
            <a:r>
              <a:rPr lang="fr-FR" sz="1800" dirty="0"/>
              <a:t>     qui n'a pas de niveau de table des matières mappé. </a:t>
            </a:r>
          </a:p>
          <a:p>
            <a:r>
              <a:rPr lang="fr-FR" sz="1800" dirty="0"/>
              <a:t>Entrez 1 pour mapper le titre au niveau supérieur de la table des matières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377AE3-2BE6-475B-87F3-F388D20BD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0"/>
            <a:ext cx="68754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92711F5-918B-4437-9195-0DD30F9E81CC}"/>
              </a:ext>
            </a:extLst>
          </p:cNvPr>
          <p:cNvSpPr txBox="1"/>
          <p:nvPr/>
        </p:nvSpPr>
        <p:spPr>
          <a:xfrm>
            <a:off x="1403648" y="1807833"/>
            <a:ext cx="66052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dirty="0">
                <a:solidFill>
                  <a:srgbClr val="333333"/>
                </a:solidFill>
                <a:effectLst/>
                <a:latin typeface="Amazon Ember"/>
              </a:rPr>
              <a:t>Cliquez deux fois sur « OK » pour quitter les boîtes de dialogue. </a:t>
            </a:r>
          </a:p>
          <a:p>
            <a:r>
              <a:rPr lang="fr-FR" b="1" i="0" dirty="0">
                <a:solidFill>
                  <a:srgbClr val="333333"/>
                </a:solidFill>
                <a:effectLst/>
                <a:latin typeface="Amazon Ember"/>
              </a:rPr>
              <a:t>Word vous demandera de remplacer le contenu. </a:t>
            </a:r>
          </a:p>
          <a:p>
            <a:r>
              <a:rPr lang="fr-FR" b="1" i="0" dirty="0">
                <a:solidFill>
                  <a:srgbClr val="333333"/>
                </a:solidFill>
                <a:effectLst/>
                <a:latin typeface="Amazon Ember"/>
              </a:rPr>
              <a:t>Cliquez sur « Oui » pour remplacer la table des matières.</a:t>
            </a:r>
            <a:br>
              <a:rPr lang="fr-FR" b="1" dirty="0"/>
            </a:b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75676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b="1" dirty="0"/>
              <a:t>Créer une table des matières cliquable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75656" y="843558"/>
            <a:ext cx="7690336" cy="4608512"/>
          </a:xfrm>
          <a:prstGeom prst="rect">
            <a:avLst/>
          </a:prstGeom>
        </p:spPr>
        <p:txBody>
          <a:bodyPr/>
          <a:lstStyle/>
          <a:p>
            <a:r>
              <a:rPr lang="fr-FR" sz="1800" dirty="0"/>
              <a:t>La création d’une table des matières en lien hypertexte est attendue à l’ère numérique. La navigation est plus rapide. C'est aussi une autre condition pour soumettre une thèse.</a:t>
            </a:r>
          </a:p>
          <a:p>
            <a:endParaRPr lang="fr-FR" sz="1800" dirty="0"/>
          </a:p>
          <a:p>
            <a:r>
              <a:rPr lang="fr-FR" sz="1800" dirty="0"/>
              <a:t>¾     Cliquez sur la case à cocher « Utiliser des liens hypertexte » au lieu des numéros de page.</a:t>
            </a:r>
          </a:p>
          <a:p>
            <a:endParaRPr lang="fr-FR" sz="1800" dirty="0"/>
          </a:p>
          <a:p>
            <a:r>
              <a:rPr lang="fr-FR" sz="1800" dirty="0"/>
              <a:t>¾     Décochez également la case « Afficher les numéros de page » si vous souhaitez simplement utiliser les liens hypertexte.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A64D1BD-CF6E-4D70-B2AA-ABCDA8858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63" y="0"/>
            <a:ext cx="68722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14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D19242F-F947-4D2A-81C9-F0891A0C98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sz="3600" b="1" dirty="0"/>
              <a:t>mise à jour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6F2397-5F43-4760-B98E-C9B325DE01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6981B03-5FF1-4FEA-923F-D32AF7B218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771550"/>
            <a:ext cx="8058150" cy="395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02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11603</TotalTime>
  <Words>561</Words>
  <Application>Microsoft Office PowerPoint</Application>
  <PresentationFormat>Affichage à l'écran (16:9)</PresentationFormat>
  <Paragraphs>53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Amazon Ember</vt:lpstr>
      <vt:lpstr>Arial</vt:lpstr>
      <vt:lpstr>Calibri</vt:lpstr>
      <vt:lpstr>Times New Roman</vt:lpstr>
      <vt:lpstr>Wingdings</vt:lpstr>
      <vt:lpstr>Cover and End Slide Master</vt:lpstr>
      <vt:lpstr>Contents Slide Master</vt:lpstr>
      <vt:lpstr>Section Break Slide Master</vt:lpstr>
      <vt:lpstr>Présentation PowerPoint</vt:lpstr>
      <vt:lpstr>Introduction</vt:lpstr>
      <vt:lpstr>Étapes de création de la table des matières</vt:lpstr>
      <vt:lpstr>Étapes de création de la table des matières</vt:lpstr>
      <vt:lpstr>La table des matières en Word</vt:lpstr>
      <vt:lpstr>La table des matières en Word</vt:lpstr>
      <vt:lpstr>Étapes de création de la table des matières</vt:lpstr>
      <vt:lpstr>Créer une table des matières cliquable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AsmaAouichat@mdibs.onmicrosoft.com</cp:lastModifiedBy>
  <cp:revision>395</cp:revision>
  <dcterms:created xsi:type="dcterms:W3CDTF">2016-12-05T23:26:54Z</dcterms:created>
  <dcterms:modified xsi:type="dcterms:W3CDTF">2021-02-20T19:15:23Z</dcterms:modified>
</cp:coreProperties>
</file>