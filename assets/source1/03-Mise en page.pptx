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 id="2147483653" r:id="rId3"/>
  </p:sldMasterIdLst>
  <p:notesMasterIdLst>
    <p:notesMasterId r:id="rId15"/>
  </p:notesMasterIdLst>
  <p:handoutMasterIdLst>
    <p:handoutMasterId r:id="rId16"/>
  </p:handoutMasterIdLst>
  <p:sldIdLst>
    <p:sldId id="256" r:id="rId4"/>
    <p:sldId id="410" r:id="rId5"/>
    <p:sldId id="483" r:id="rId6"/>
    <p:sldId id="484" r:id="rId7"/>
    <p:sldId id="411" r:id="rId8"/>
    <p:sldId id="412" r:id="rId9"/>
    <p:sldId id="413" r:id="rId10"/>
    <p:sldId id="401" r:id="rId11"/>
    <p:sldId id="499" r:id="rId12"/>
    <p:sldId id="500" r:id="rId13"/>
    <p:sldId id="402" r:id="rId14"/>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0" d="100"/>
          <a:sy n="120" d="100"/>
        </p:scale>
        <p:origin x="748" y="80"/>
      </p:cViewPr>
      <p:guideLst>
        <p:guide orient="horz" pos="1620"/>
        <p:guide pos="2880"/>
      </p:guideLst>
    </p:cSldViewPr>
  </p:slideViewPr>
  <p:notesTextViewPr>
    <p:cViewPr>
      <p:scale>
        <a:sx n="1" d="1"/>
        <a:sy n="1" d="1"/>
      </p:scale>
      <p:origin x="0" y="0"/>
    </p:cViewPr>
  </p:notesTextViewPr>
  <p:notesViewPr>
    <p:cSldViewPr>
      <p:cViewPr varScale="1">
        <p:scale>
          <a:sx n="75" d="100"/>
          <a:sy n="75" d="100"/>
        </p:scale>
        <p:origin x="-3376" y="-5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535305-B13A-4D54-AA37-5C48A5194BAE}" type="datetimeFigureOut">
              <a:rPr lang="fr-FR" smtClean="0"/>
              <a:t>20/02/2021</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6D73C0-3EB0-493F-85BA-568868B7EB33}" type="slidenum">
              <a:rPr lang="fr-FR" smtClean="0"/>
              <a:t>‹N°›</a:t>
            </a:fld>
            <a:endParaRPr lang="fr-FR"/>
          </a:p>
        </p:txBody>
      </p:sp>
    </p:spTree>
    <p:extLst>
      <p:ext uri="{BB962C8B-B14F-4D97-AF65-F5344CB8AC3E}">
        <p14:creationId xmlns:p14="http://schemas.microsoft.com/office/powerpoint/2010/main" val="22993797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90FB7C-F83F-4EB1-9185-B24EFE9878DA}" type="datetimeFigureOut">
              <a:rPr lang="fr-FR" smtClean="0"/>
              <a:t>20/02/2021</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EC05AE-884A-4259-B46C-1BFBDBD962A9}" type="slidenum">
              <a:rPr lang="fr-FR" smtClean="0"/>
              <a:t>‹N°›</a:t>
            </a:fld>
            <a:endParaRPr lang="fr-FR"/>
          </a:p>
        </p:txBody>
      </p:sp>
    </p:spTree>
    <p:extLst>
      <p:ext uri="{BB962C8B-B14F-4D97-AF65-F5344CB8AC3E}">
        <p14:creationId xmlns:p14="http://schemas.microsoft.com/office/powerpoint/2010/main" val="34331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userDrawn="1"/>
        </p:nvSpPr>
        <p:spPr>
          <a:xfrm>
            <a:off x="179512" y="123478"/>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395536"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339502"/>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915566"/>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accent1"/>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accent2"/>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accent3"/>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accent4"/>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pic>
        <p:nvPicPr>
          <p:cNvPr id="9"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22473"/>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userDrawn="1"/>
        </p:nvSpPr>
        <p:spPr>
          <a:xfrm>
            <a:off x="179512" y="195486"/>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5024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pic>
        <p:nvPicPr>
          <p:cNvPr id="3"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userDrawn="1"/>
        </p:nvSpPr>
        <p:spPr>
          <a:xfrm>
            <a:off x="179512" y="123478"/>
            <a:ext cx="1152128" cy="72008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4" name="Rectangle 3"/>
          <p:cNvSpPr/>
          <p:nvPr userDrawn="1"/>
        </p:nvSpPr>
        <p:spPr>
          <a:xfrm>
            <a:off x="4572000" y="0"/>
            <a:ext cx="4104456"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 hasCustomPrompt="1"/>
          </p:nvPr>
        </p:nvSpPr>
        <p:spPr>
          <a:xfrm>
            <a:off x="0" y="1995686"/>
            <a:ext cx="9144000" cy="288032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563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accent1"/>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131536"/>
            <a:ext cx="5796136"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230919"/>
            <a:ext cx="3294112"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230919"/>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3507854"/>
            <a:ext cx="9144000" cy="163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54243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032000" y="158354"/>
            <a:ext cx="5557838" cy="571500"/>
          </a:xfrm>
          <a:prstGeom prst="rect">
            <a:avLst/>
          </a:prstGeom>
        </p:spPr>
        <p:txBody>
          <a:bodyPr/>
          <a:lstStyle/>
          <a:p>
            <a:r>
              <a:rPr lang="fr-FR"/>
              <a:t>Cliquez pour modifier le style du titre</a:t>
            </a:r>
          </a:p>
        </p:txBody>
      </p:sp>
      <p:sp>
        <p:nvSpPr>
          <p:cNvPr id="3" name="Espace réservé du contenu 2"/>
          <p:cNvSpPr>
            <a:spLocks noGrp="1"/>
          </p:cNvSpPr>
          <p:nvPr>
            <p:ph idx="1"/>
          </p:nvPr>
        </p:nvSpPr>
        <p:spPr>
          <a:xfrm>
            <a:off x="377825" y="971550"/>
            <a:ext cx="8343900" cy="39957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7"/>
          <p:cNvSpPr>
            <a:spLocks noGrp="1" noChangeArrowheads="1"/>
          </p:cNvSpPr>
          <p:nvPr>
            <p:ph type="dt" sz="half" idx="10"/>
          </p:nvPr>
        </p:nvSpPr>
        <p:spPr>
          <a:xfrm>
            <a:off x="685800" y="4686300"/>
            <a:ext cx="1905000" cy="342900"/>
          </a:xfrm>
          <a:prstGeom prst="rect">
            <a:avLst/>
          </a:prstGeom>
          <a:ln/>
        </p:spPr>
        <p:txBody>
          <a:bodyPr/>
          <a:lstStyle>
            <a:lvl1pPr>
              <a:defRPr/>
            </a:lvl1pPr>
          </a:lstStyle>
          <a:p>
            <a:pPr>
              <a:defRPr/>
            </a:pPr>
            <a:endParaRPr lang="fr-FR"/>
          </a:p>
        </p:txBody>
      </p:sp>
      <p:sp>
        <p:nvSpPr>
          <p:cNvPr id="5" name="Rectangle 8"/>
          <p:cNvSpPr>
            <a:spLocks noGrp="1" noChangeArrowheads="1"/>
          </p:cNvSpPr>
          <p:nvPr>
            <p:ph type="sldNum" sz="quarter" idx="11"/>
          </p:nvPr>
        </p:nvSpPr>
        <p:spPr>
          <a:xfrm>
            <a:off x="8401051" y="4712494"/>
            <a:ext cx="631825" cy="342900"/>
          </a:xfrm>
          <a:prstGeom prst="rect">
            <a:avLst/>
          </a:prstGeom>
          <a:ln/>
        </p:spPr>
        <p:txBody>
          <a:bodyPr/>
          <a:lstStyle>
            <a:lvl1pPr>
              <a:defRPr/>
            </a:lvl1pPr>
          </a:lstStyle>
          <a:p>
            <a:pPr>
              <a:defRPr/>
            </a:pPr>
            <a:fld id="{D3C2C201-C571-47D8-A02A-CE1F7DAE9C79}" type="slidenum">
              <a:rPr lang="fr-FR"/>
              <a:pPr>
                <a:defRPr/>
              </a:pPr>
              <a:t>‹N°›</a:t>
            </a:fld>
            <a:endParaRPr lang="fr-FR"/>
          </a:p>
        </p:txBody>
      </p:sp>
      <p:sp>
        <p:nvSpPr>
          <p:cNvPr id="6" name="Rectangle 9"/>
          <p:cNvSpPr>
            <a:spLocks noGrp="1" noChangeArrowheads="1"/>
          </p:cNvSpPr>
          <p:nvPr>
            <p:ph type="ftr" sz="quarter" idx="12"/>
          </p:nvPr>
        </p:nvSpPr>
        <p:spPr>
          <a:xfrm>
            <a:off x="3124200" y="4686300"/>
            <a:ext cx="2895600" cy="342900"/>
          </a:xfrm>
          <a:prstGeom prst="rect">
            <a:avLst/>
          </a:prstGeom>
          <a:ln/>
        </p:spPr>
        <p:txBody>
          <a:bodyPr/>
          <a:lstStyle>
            <a:lvl1pPr>
              <a:defRPr/>
            </a:lvl1pPr>
          </a:lstStyle>
          <a:p>
            <a:pPr>
              <a:defRPr/>
            </a:pPr>
            <a:endParaRPr lang="fr-FR"/>
          </a:p>
        </p:txBody>
      </p:sp>
    </p:spTree>
    <p:extLst>
      <p:ext uri="{BB962C8B-B14F-4D97-AF65-F5344CB8AC3E}">
        <p14:creationId xmlns:p14="http://schemas.microsoft.com/office/powerpoint/2010/main" val="2625601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2032000" y="158354"/>
            <a:ext cx="5557838" cy="571500"/>
          </a:xfrm>
          <a:prstGeom prst="rect">
            <a:avLst/>
          </a:prstGeom>
        </p:spPr>
        <p:txBody>
          <a:bodyPr/>
          <a:lstStyle/>
          <a:p>
            <a:r>
              <a:rPr lang="fr-FR"/>
              <a:t>Cliquez pour modifier le style du titre</a:t>
            </a:r>
          </a:p>
        </p:txBody>
      </p:sp>
      <p:sp>
        <p:nvSpPr>
          <p:cNvPr id="3" name="Rectangle 7"/>
          <p:cNvSpPr>
            <a:spLocks noGrp="1" noChangeArrowheads="1"/>
          </p:cNvSpPr>
          <p:nvPr>
            <p:ph type="dt" sz="half" idx="10"/>
          </p:nvPr>
        </p:nvSpPr>
        <p:spPr>
          <a:xfrm>
            <a:off x="685800" y="4686300"/>
            <a:ext cx="1905000" cy="342900"/>
          </a:xfrm>
          <a:prstGeom prst="rect">
            <a:avLst/>
          </a:prstGeom>
          <a:ln/>
        </p:spPr>
        <p:txBody>
          <a:bodyPr/>
          <a:lstStyle>
            <a:lvl1pPr>
              <a:defRPr/>
            </a:lvl1pPr>
          </a:lstStyle>
          <a:p>
            <a:pPr>
              <a:defRPr/>
            </a:pPr>
            <a:endParaRPr lang="fr-FR"/>
          </a:p>
        </p:txBody>
      </p:sp>
      <p:sp>
        <p:nvSpPr>
          <p:cNvPr id="4" name="Rectangle 8"/>
          <p:cNvSpPr>
            <a:spLocks noGrp="1" noChangeArrowheads="1"/>
          </p:cNvSpPr>
          <p:nvPr>
            <p:ph type="sldNum" sz="quarter" idx="11"/>
          </p:nvPr>
        </p:nvSpPr>
        <p:spPr>
          <a:xfrm>
            <a:off x="8401051" y="4712494"/>
            <a:ext cx="631825" cy="342900"/>
          </a:xfrm>
          <a:prstGeom prst="rect">
            <a:avLst/>
          </a:prstGeom>
          <a:ln/>
        </p:spPr>
        <p:txBody>
          <a:bodyPr/>
          <a:lstStyle>
            <a:lvl1pPr>
              <a:defRPr/>
            </a:lvl1pPr>
          </a:lstStyle>
          <a:p>
            <a:pPr>
              <a:defRPr/>
            </a:pPr>
            <a:fld id="{F469F808-56E8-4EE0-B1F0-7CD9129F957B}" type="slidenum">
              <a:rPr lang="fr-FR"/>
              <a:pPr>
                <a:defRPr/>
              </a:pPr>
              <a:t>‹N°›</a:t>
            </a:fld>
            <a:endParaRPr lang="fr-FR"/>
          </a:p>
        </p:txBody>
      </p:sp>
      <p:sp>
        <p:nvSpPr>
          <p:cNvPr id="5" name="Rectangle 9"/>
          <p:cNvSpPr>
            <a:spLocks noGrp="1" noChangeArrowheads="1"/>
          </p:cNvSpPr>
          <p:nvPr>
            <p:ph type="ftr" sz="quarter" idx="12"/>
          </p:nvPr>
        </p:nvSpPr>
        <p:spPr>
          <a:xfrm>
            <a:off x="3124200" y="4686300"/>
            <a:ext cx="2895600" cy="342900"/>
          </a:xfrm>
          <a:prstGeom prst="rect">
            <a:avLst/>
          </a:prstGeom>
          <a:ln/>
        </p:spPr>
        <p:txBody>
          <a:bodyPr/>
          <a:lstStyle>
            <a:lvl1pPr>
              <a:defRPr/>
            </a:lvl1pPr>
          </a:lstStyle>
          <a:p>
            <a:pPr>
              <a:defRPr/>
            </a:pPr>
            <a:endParaRPr lang="fr-FR"/>
          </a:p>
        </p:txBody>
      </p:sp>
    </p:spTree>
    <p:extLst>
      <p:ext uri="{BB962C8B-B14F-4D97-AF65-F5344CB8AC3E}">
        <p14:creationId xmlns:p14="http://schemas.microsoft.com/office/powerpoint/2010/main" val="36507653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45663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theme" Target="../theme/theme2.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9.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19">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Placeholder 2"/>
          <p:cNvSpPr txBox="1">
            <a:spLocks/>
          </p:cNvSpPr>
          <p:nvPr userDrawn="1"/>
        </p:nvSpPr>
        <p:spPr>
          <a:xfrm>
            <a:off x="3171458" y="4882137"/>
            <a:ext cx="5976664" cy="261363"/>
          </a:xfrm>
          <a:prstGeom prst="rect">
            <a:avLst/>
          </a:prstGeom>
          <a:ln w="19050">
            <a:noFill/>
          </a:ln>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Tx/>
              <a:buNone/>
            </a:pPr>
            <a:r>
              <a:rPr lang="en-US" altLang="ko-KR" sz="1200" b="1" dirty="0" err="1">
                <a:ea typeface="맑은 고딕" pitchFamily="50" charset="-127"/>
              </a:rPr>
              <a:t>Cours</a:t>
            </a:r>
            <a:r>
              <a:rPr lang="en-US" altLang="ko-KR" sz="1200" b="1" dirty="0">
                <a:ea typeface="맑은 고딕" pitchFamily="50" charset="-127"/>
              </a:rPr>
              <a:t> N 01 :Introduction WORD</a:t>
            </a:r>
          </a:p>
        </p:txBody>
      </p:sp>
      <p:sp>
        <p:nvSpPr>
          <p:cNvPr id="5" name="Rectangle 4"/>
          <p:cNvSpPr/>
          <p:nvPr userDrawn="1"/>
        </p:nvSpPr>
        <p:spPr>
          <a:xfrm>
            <a:off x="-26321" y="4881521"/>
            <a:ext cx="2448272" cy="26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fr-FR" sz="1400" b="1" dirty="0" err="1">
                <a:solidFill>
                  <a:schemeClr val="tx1"/>
                </a:solidFill>
                <a:latin typeface="Times New Roman" panose="02020603050405020304" pitchFamily="18" charset="0"/>
                <a:cs typeface="Times New Roman" panose="02020603050405020304" pitchFamily="18" charset="0"/>
              </a:rPr>
              <a:t>A.Aouichat</a:t>
            </a:r>
            <a:endParaRPr lang="fr-FR" sz="1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72" r:id="rId12"/>
    <p:sldLayoutId id="2147483656" r:id="rId13"/>
    <p:sldLayoutId id="2147483673" r:id="rId14"/>
    <p:sldLayoutId id="2147483674" r:id="rId15"/>
    <p:sldLayoutId id="2147483675" r:id="rId16"/>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oursinfo.fr/wp-content/uploads/2016/03/ajuster-les-marges.png"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oursinfo.fr/wp-content/uploads/2016/03/ajuster-les-marges.pn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oursinfo.fr/wp-content/uploads/2016/03/ajuster-les-marges.png"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coursinfo.fr/wp-content/uploads/2015/12/barre-de-liaison_2.png"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3.xml"/><Relationship Id="rId5" Type="http://schemas.openxmlformats.org/officeDocument/2006/relationships/image" Target="../media/image22.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08520" y="3435846"/>
            <a:ext cx="9396536" cy="792089"/>
          </a:xfrm>
          <a:ln w="19050">
            <a:noFill/>
          </a:ln>
        </p:spPr>
        <p:txBody>
          <a:bodyPr/>
          <a:lstStyle/>
          <a:p>
            <a:r>
              <a:rPr lang="en-US" altLang="ko-KR" dirty="0" err="1">
                <a:ea typeface="맑은 고딕" pitchFamily="50" charset="-127"/>
              </a:rPr>
              <a:t>Cours</a:t>
            </a:r>
            <a:r>
              <a:rPr lang="en-US" altLang="ko-KR" dirty="0">
                <a:ea typeface="맑은 고딕" pitchFamily="50" charset="-127"/>
              </a:rPr>
              <a:t> N 03 :</a:t>
            </a:r>
            <a:r>
              <a:rPr lang="fr-FR" sz="3600" dirty="0"/>
              <a:t> Mise en Page</a:t>
            </a:r>
            <a:endParaRPr lang="fr-FR" dirty="0"/>
          </a:p>
        </p:txBody>
      </p:sp>
      <p:sp>
        <p:nvSpPr>
          <p:cNvPr id="4" name="Text Placeholder 3"/>
          <p:cNvSpPr>
            <a:spLocks noGrp="1"/>
          </p:cNvSpPr>
          <p:nvPr>
            <p:ph type="body" sz="quarter" idx="11"/>
          </p:nvPr>
        </p:nvSpPr>
        <p:spPr>
          <a:xfrm>
            <a:off x="251520" y="4443958"/>
            <a:ext cx="9144000" cy="288032"/>
          </a:xfrm>
          <a:ln w="12700">
            <a:noFill/>
          </a:ln>
        </p:spPr>
        <p:txBody>
          <a:bodyPr/>
          <a:lstStyle/>
          <a:p>
            <a:pPr>
              <a:spcBef>
                <a:spcPts val="0"/>
              </a:spcBef>
              <a:defRPr/>
            </a:pPr>
            <a:r>
              <a:rPr lang="en-US" altLang="ko-KR" dirty="0" err="1"/>
              <a:t>A.Aouichat</a:t>
            </a:r>
            <a:r>
              <a:rPr lang="en-US" altLang="ko-KR" dirty="0"/>
              <a:t>				   	asm.aouichat@gmail.com</a:t>
            </a:r>
          </a:p>
        </p:txBody>
      </p:sp>
      <p:cxnSp>
        <p:nvCxnSpPr>
          <p:cNvPr id="9" name="Connecteur droit 8"/>
          <p:cNvCxnSpPr/>
          <p:nvPr/>
        </p:nvCxnSpPr>
        <p:spPr>
          <a:xfrm>
            <a:off x="583754" y="4371950"/>
            <a:ext cx="8020694"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2</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L’onglet “Mise en Page” du ruban Word</a:t>
            </a:r>
          </a:p>
        </p:txBody>
      </p:sp>
      <p:sp>
        <p:nvSpPr>
          <p:cNvPr id="6147" name="Rectangle 3"/>
          <p:cNvSpPr>
            <a:spLocks noGrp="1" noChangeArrowheads="1"/>
          </p:cNvSpPr>
          <p:nvPr>
            <p:ph type="body" sz="quarter" idx="4294967295"/>
          </p:nvPr>
        </p:nvSpPr>
        <p:spPr>
          <a:xfrm>
            <a:off x="1677161" y="771550"/>
            <a:ext cx="7488832" cy="2736304"/>
          </a:xfrm>
          <a:prstGeom prst="rect">
            <a:avLst/>
          </a:prstGeom>
        </p:spPr>
        <p:txBody>
          <a:bodyPr/>
          <a:lstStyle/>
          <a:p>
            <a:pPr algn="l"/>
            <a:r>
              <a:rPr lang="fr-FR" sz="1500" b="0" i="0" dirty="0">
                <a:solidFill>
                  <a:srgbClr val="616161"/>
                </a:solidFill>
                <a:effectLst/>
                <a:latin typeface="Open Sans"/>
              </a:rPr>
              <a:t>L’onglet </a:t>
            </a:r>
            <a:r>
              <a:rPr lang="fr-FR" sz="1500" b="0" i="1" dirty="0">
                <a:solidFill>
                  <a:srgbClr val="616161"/>
                </a:solidFill>
                <a:effectLst/>
                <a:latin typeface="Open Sans"/>
              </a:rPr>
              <a:t>“</a:t>
            </a:r>
            <a:r>
              <a:rPr lang="fr-FR" sz="1500" b="1" i="1" dirty="0">
                <a:solidFill>
                  <a:srgbClr val="FF0000"/>
                </a:solidFill>
                <a:effectLst/>
                <a:latin typeface="Open Sans"/>
              </a:rPr>
              <a:t>Mise en page</a:t>
            </a:r>
            <a:r>
              <a:rPr lang="fr-FR" sz="1500" b="0" i="1" dirty="0">
                <a:solidFill>
                  <a:srgbClr val="616161"/>
                </a:solidFill>
                <a:effectLst/>
                <a:latin typeface="Open Sans"/>
              </a:rPr>
              <a:t>“</a:t>
            </a:r>
            <a:r>
              <a:rPr lang="fr-FR" sz="1500" b="0" i="0" dirty="0">
                <a:solidFill>
                  <a:srgbClr val="616161"/>
                </a:solidFill>
                <a:effectLst/>
                <a:latin typeface="Open Sans"/>
              </a:rPr>
              <a:t> contient toutes les commandes nécessaires pour mettre en forme vos documents au niveau Page.</a:t>
            </a:r>
          </a:p>
          <a:p>
            <a:br>
              <a:rPr lang="fr-FR" sz="1500" dirty="0">
                <a:solidFill>
                  <a:srgbClr val="6F92C3"/>
                </a:solidFill>
                <a:latin typeface="Open Sans"/>
              </a:rPr>
            </a:br>
            <a:br>
              <a:rPr lang="fr-FR" sz="1500" b="0" i="0" u="none" strike="noStrike" dirty="0">
                <a:solidFill>
                  <a:srgbClr val="6F92C3"/>
                </a:solidFill>
                <a:effectLst/>
                <a:latin typeface="Open Sans"/>
                <a:hlinkClick r:id="rId2"/>
              </a:rPr>
            </a:br>
            <a:endParaRPr lang="fr-FR" sz="1500" b="0" i="0" dirty="0">
              <a:solidFill>
                <a:srgbClr val="616161"/>
              </a:solidFill>
              <a:effectLst/>
              <a:latin typeface="Open Sans"/>
            </a:endParaRPr>
          </a:p>
        </p:txBody>
      </p:sp>
      <p:pic>
        <p:nvPicPr>
          <p:cNvPr id="8196" name="Picture 4" descr="Word_onglet_miseenpage">
            <a:extLst>
              <a:ext uri="{FF2B5EF4-FFF2-40B4-BE49-F238E27FC236}">
                <a16:creationId xmlns:a16="http://schemas.microsoft.com/office/drawing/2014/main" id="{A2CA5E25-6844-4E6A-874F-EDF0960CF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9622"/>
            <a:ext cx="9144000" cy="3154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77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3</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Définir les marges de page avec Word</a:t>
            </a:r>
            <a:endParaRPr lang="fr-FR" sz="2500" dirty="0"/>
          </a:p>
        </p:txBody>
      </p:sp>
      <p:sp>
        <p:nvSpPr>
          <p:cNvPr id="6147" name="Rectangle 3"/>
          <p:cNvSpPr>
            <a:spLocks noGrp="1" noChangeArrowheads="1"/>
          </p:cNvSpPr>
          <p:nvPr>
            <p:ph type="body" sz="quarter" idx="4294967295"/>
          </p:nvPr>
        </p:nvSpPr>
        <p:spPr>
          <a:xfrm>
            <a:off x="1677161" y="771550"/>
            <a:ext cx="7488832" cy="2736304"/>
          </a:xfrm>
          <a:prstGeom prst="rect">
            <a:avLst/>
          </a:prstGeom>
        </p:spPr>
        <p:txBody>
          <a:bodyPr/>
          <a:lstStyle/>
          <a:p>
            <a:pPr algn="l"/>
            <a:r>
              <a:rPr lang="fr-FR" sz="1000" b="0" i="0" dirty="0">
                <a:solidFill>
                  <a:srgbClr val="616161"/>
                </a:solidFill>
                <a:effectLst/>
                <a:latin typeface="Open Sans"/>
              </a:rPr>
              <a:t>Les </a:t>
            </a:r>
            <a:r>
              <a:rPr lang="fr-FR" sz="1000" b="1" i="0" dirty="0">
                <a:solidFill>
                  <a:srgbClr val="616161"/>
                </a:solidFill>
                <a:effectLst/>
                <a:latin typeface="Open Sans"/>
              </a:rPr>
              <a:t>marges</a:t>
            </a:r>
            <a:r>
              <a:rPr lang="fr-FR" sz="1000" b="0" i="0" dirty="0">
                <a:solidFill>
                  <a:srgbClr val="616161"/>
                </a:solidFill>
                <a:effectLst/>
                <a:latin typeface="Open Sans"/>
              </a:rPr>
              <a:t> de page sont des</a:t>
            </a:r>
            <a:r>
              <a:rPr lang="fr-FR" sz="1000" b="1" i="0" dirty="0">
                <a:solidFill>
                  <a:srgbClr val="616161"/>
                </a:solidFill>
                <a:effectLst/>
                <a:latin typeface="Open Sans"/>
              </a:rPr>
              <a:t> espaces vides</a:t>
            </a:r>
            <a:r>
              <a:rPr lang="fr-FR" sz="1000" b="0" i="0" dirty="0">
                <a:solidFill>
                  <a:srgbClr val="616161"/>
                </a:solidFill>
                <a:effectLst/>
                <a:latin typeface="Open Sans"/>
              </a:rPr>
              <a:t> laissés autour des </a:t>
            </a:r>
            <a:r>
              <a:rPr lang="fr-FR" sz="1000" b="1" i="0" dirty="0">
                <a:solidFill>
                  <a:srgbClr val="616161"/>
                </a:solidFill>
                <a:effectLst/>
                <a:latin typeface="Open Sans"/>
              </a:rPr>
              <a:t>bords</a:t>
            </a:r>
            <a:r>
              <a:rPr lang="fr-FR" sz="1000" b="0" i="0" dirty="0">
                <a:solidFill>
                  <a:srgbClr val="616161"/>
                </a:solidFill>
                <a:effectLst/>
                <a:latin typeface="Open Sans"/>
              </a:rPr>
              <a:t> de la </a:t>
            </a:r>
            <a:r>
              <a:rPr lang="fr-FR" sz="1000" b="1" i="0" dirty="0">
                <a:solidFill>
                  <a:srgbClr val="616161"/>
                </a:solidFill>
                <a:effectLst/>
                <a:latin typeface="Open Sans"/>
              </a:rPr>
              <a:t>page</a:t>
            </a:r>
            <a:r>
              <a:rPr lang="fr-FR" sz="1000" b="0" i="0" dirty="0">
                <a:solidFill>
                  <a:srgbClr val="616161"/>
                </a:solidFill>
                <a:effectLst/>
                <a:latin typeface="Open Sans"/>
              </a:rPr>
              <a:t>. En règle générale, vous insérez du texte et des graphismes dans la zone imprimable entre les marges.</a:t>
            </a:r>
          </a:p>
          <a:p>
            <a:br>
              <a:rPr lang="fr-FR" sz="1000" b="0" i="0" u="none" strike="noStrike" dirty="0">
                <a:solidFill>
                  <a:srgbClr val="6F92C3"/>
                </a:solidFill>
                <a:effectLst/>
                <a:latin typeface="Open Sans"/>
                <a:hlinkClick r:id="rId2"/>
              </a:rPr>
            </a:br>
            <a:endParaRPr lang="fr-FR" sz="1400" b="0" i="0" dirty="0">
              <a:solidFill>
                <a:srgbClr val="616161"/>
              </a:solidFill>
              <a:effectLst/>
              <a:latin typeface="Open Sans"/>
            </a:endParaRPr>
          </a:p>
        </p:txBody>
      </p:sp>
      <p:pic>
        <p:nvPicPr>
          <p:cNvPr id="8194" name="Picture 2" descr="ajuster les marges">
            <a:extLst>
              <a:ext uri="{FF2B5EF4-FFF2-40B4-BE49-F238E27FC236}">
                <a16:creationId xmlns:a16="http://schemas.microsoft.com/office/drawing/2014/main" id="{56658C1B-BA64-4456-8933-990D4CA54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419622"/>
            <a:ext cx="3448050" cy="3777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4</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 Disposer votre texte en colonnes</a:t>
            </a:r>
          </a:p>
        </p:txBody>
      </p:sp>
      <p:sp>
        <p:nvSpPr>
          <p:cNvPr id="6147" name="Rectangle 3"/>
          <p:cNvSpPr>
            <a:spLocks noGrp="1" noChangeArrowheads="1"/>
          </p:cNvSpPr>
          <p:nvPr>
            <p:ph type="body" sz="quarter" idx="4294967295"/>
          </p:nvPr>
        </p:nvSpPr>
        <p:spPr>
          <a:xfrm>
            <a:off x="1677161" y="771550"/>
            <a:ext cx="7488832" cy="2736304"/>
          </a:xfrm>
          <a:prstGeom prst="rect">
            <a:avLst/>
          </a:prstGeom>
        </p:spPr>
        <p:txBody>
          <a:bodyPr/>
          <a:lstStyle/>
          <a:p>
            <a:pPr algn="l"/>
            <a:r>
              <a:rPr lang="fr-FR" sz="1500" b="0" i="1" dirty="0">
                <a:solidFill>
                  <a:srgbClr val="616161"/>
                </a:solidFill>
                <a:effectLst/>
                <a:latin typeface="Open Sans"/>
              </a:rPr>
              <a:t>Pour égayer un document assez long, et le rendre </a:t>
            </a:r>
            <a:r>
              <a:rPr lang="fr-FR" sz="1500" b="1" i="1" dirty="0">
                <a:solidFill>
                  <a:srgbClr val="616161"/>
                </a:solidFill>
                <a:effectLst/>
                <a:latin typeface="Open Sans"/>
              </a:rPr>
              <a:t>plus attrayant</a:t>
            </a:r>
            <a:r>
              <a:rPr lang="fr-FR" sz="1500" b="0" i="1" dirty="0">
                <a:solidFill>
                  <a:srgbClr val="616161"/>
                </a:solidFill>
                <a:effectLst/>
                <a:latin typeface="Open Sans"/>
              </a:rPr>
              <a:t>, pourquoi ne pas disposer votre </a:t>
            </a:r>
            <a:r>
              <a:rPr lang="fr-FR" sz="1500" b="1" i="1" dirty="0">
                <a:solidFill>
                  <a:srgbClr val="616161"/>
                </a:solidFill>
                <a:effectLst/>
                <a:latin typeface="Open Sans"/>
              </a:rPr>
              <a:t>texte en colonnes</a:t>
            </a:r>
            <a:r>
              <a:rPr lang="fr-FR" sz="1500" b="0" i="1" dirty="0">
                <a:solidFill>
                  <a:srgbClr val="616161"/>
                </a:solidFill>
                <a:effectLst/>
                <a:latin typeface="Open Sans"/>
              </a:rPr>
              <a:t> </a:t>
            </a:r>
            <a:r>
              <a:rPr lang="fr-FR" sz="1500" b="0" i="1" u="sng" dirty="0">
                <a:solidFill>
                  <a:srgbClr val="616161"/>
                </a:solidFill>
                <a:effectLst/>
                <a:latin typeface="Open Sans"/>
              </a:rPr>
              <a:t>comme dans les journaux</a:t>
            </a:r>
            <a:r>
              <a:rPr lang="fr-FR" sz="1500" b="0" i="1" dirty="0">
                <a:solidFill>
                  <a:srgbClr val="616161"/>
                </a:solidFill>
                <a:effectLst/>
                <a:latin typeface="Open Sans"/>
              </a:rPr>
              <a:t>.</a:t>
            </a:r>
            <a:br>
              <a:rPr lang="fr-FR" sz="1500" b="0" i="1" dirty="0">
                <a:solidFill>
                  <a:srgbClr val="616161"/>
                </a:solidFill>
                <a:effectLst/>
                <a:latin typeface="Open Sans"/>
              </a:rPr>
            </a:br>
            <a:br>
              <a:rPr lang="fr-FR" sz="1500" b="0" i="0" u="none" strike="noStrike" dirty="0">
                <a:solidFill>
                  <a:srgbClr val="6F92C3"/>
                </a:solidFill>
                <a:effectLst/>
                <a:latin typeface="Open Sans"/>
                <a:hlinkClick r:id="rId2"/>
              </a:rPr>
            </a:br>
            <a:endParaRPr lang="fr-FR" sz="1500" b="0" i="0" dirty="0">
              <a:solidFill>
                <a:srgbClr val="616161"/>
              </a:solidFill>
              <a:effectLst/>
              <a:latin typeface="Open Sans"/>
            </a:endParaRPr>
          </a:p>
        </p:txBody>
      </p:sp>
      <p:pic>
        <p:nvPicPr>
          <p:cNvPr id="21506" name="Picture 2" descr="colonnes_texte">
            <a:extLst>
              <a:ext uri="{FF2B5EF4-FFF2-40B4-BE49-F238E27FC236}">
                <a16:creationId xmlns:a16="http://schemas.microsoft.com/office/drawing/2014/main" id="{41D0E54E-6993-49ED-9473-4218B2788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1563638"/>
            <a:ext cx="5051251" cy="2915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216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5</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Modifier ou définir les marges de page avec Word </a:t>
            </a:r>
            <a:endParaRPr lang="fr-FR" sz="2500" dirty="0"/>
          </a:p>
        </p:txBody>
      </p:sp>
      <p:sp>
        <p:nvSpPr>
          <p:cNvPr id="6147" name="Rectangle 3"/>
          <p:cNvSpPr>
            <a:spLocks noGrp="1" noChangeArrowheads="1"/>
          </p:cNvSpPr>
          <p:nvPr>
            <p:ph type="body" sz="quarter" idx="4294967295"/>
          </p:nvPr>
        </p:nvSpPr>
        <p:spPr>
          <a:xfrm>
            <a:off x="1907703" y="771550"/>
            <a:ext cx="7258289" cy="2736304"/>
          </a:xfrm>
          <a:prstGeom prst="rect">
            <a:avLst/>
          </a:prstGeom>
        </p:spPr>
        <p:txBody>
          <a:bodyPr/>
          <a:lstStyle/>
          <a:p>
            <a:pPr algn="l">
              <a:buFont typeface="Arial" panose="020B0604020202020204" pitchFamily="34" charset="0"/>
              <a:buChar char="•"/>
            </a:pPr>
            <a:r>
              <a:rPr lang="fr-FR" sz="1000" b="0" i="0" dirty="0">
                <a:effectLst/>
                <a:latin typeface="Open Sans"/>
              </a:rPr>
              <a:t>Dans l’onglet </a:t>
            </a:r>
            <a:r>
              <a:rPr lang="fr-FR" sz="1000" b="1" i="0" dirty="0">
                <a:effectLst/>
                <a:latin typeface="Open Sans"/>
              </a:rPr>
              <a:t>Mise en page</a:t>
            </a:r>
            <a:r>
              <a:rPr lang="fr-FR" sz="1000" b="0" i="0" dirty="0">
                <a:effectLst/>
                <a:latin typeface="Open Sans"/>
              </a:rPr>
              <a:t>, dans le groupe </a:t>
            </a:r>
            <a:r>
              <a:rPr lang="fr-FR" sz="1000" b="1" i="0" dirty="0">
                <a:effectLst/>
                <a:latin typeface="Open Sans"/>
              </a:rPr>
              <a:t>Mise en page</a:t>
            </a:r>
            <a:r>
              <a:rPr lang="fr-FR" sz="1000" b="0" i="0" dirty="0">
                <a:effectLst/>
                <a:latin typeface="Open Sans"/>
              </a:rPr>
              <a:t>, cliquez sur </a:t>
            </a:r>
            <a:r>
              <a:rPr lang="fr-FR" sz="1000" b="1" i="0" dirty="0">
                <a:effectLst/>
                <a:latin typeface="Open Sans"/>
              </a:rPr>
              <a:t>Marges</a:t>
            </a:r>
            <a:r>
              <a:rPr lang="fr-FR" sz="1000" b="0" i="0" dirty="0">
                <a:effectLst/>
                <a:latin typeface="Open Sans"/>
              </a:rPr>
              <a:t>.</a:t>
            </a:r>
          </a:p>
          <a:p>
            <a:pPr algn="l">
              <a:buFont typeface="Arial" panose="020B0604020202020204" pitchFamily="34" charset="0"/>
              <a:buChar char="•"/>
            </a:pPr>
            <a:endParaRPr lang="fr-FR" sz="1000" dirty="0">
              <a:latin typeface="Open Sans"/>
            </a:endParaRPr>
          </a:p>
          <a:p>
            <a:pPr algn="l">
              <a:buFont typeface="Arial" panose="020B0604020202020204" pitchFamily="34" charset="0"/>
              <a:buChar char="•"/>
            </a:pPr>
            <a:endParaRPr lang="fr-FR" sz="1000" b="0" i="0" dirty="0">
              <a:effectLst/>
              <a:latin typeface="Open Sans"/>
            </a:endParaRPr>
          </a:p>
          <a:p>
            <a:pPr algn="l">
              <a:buFont typeface="Arial" panose="020B0604020202020204" pitchFamily="34" charset="0"/>
              <a:buChar char="•"/>
            </a:pPr>
            <a:endParaRPr lang="fr-FR" sz="1000" dirty="0">
              <a:latin typeface="Open Sans"/>
            </a:endParaRPr>
          </a:p>
          <a:p>
            <a:pPr algn="l">
              <a:buFont typeface="Arial" panose="020B0604020202020204" pitchFamily="34" charset="0"/>
              <a:buChar char="•"/>
            </a:pPr>
            <a:endParaRPr lang="fr-FR" sz="1000" b="0" i="0" dirty="0">
              <a:effectLst/>
              <a:latin typeface="Open Sans"/>
            </a:endParaRPr>
          </a:p>
          <a:p>
            <a:pPr algn="l">
              <a:buFont typeface="Arial" panose="020B0604020202020204" pitchFamily="34" charset="0"/>
              <a:buChar char="•"/>
            </a:pPr>
            <a:endParaRPr lang="fr-FR" sz="1000" dirty="0">
              <a:latin typeface="Open Sans"/>
            </a:endParaRPr>
          </a:p>
          <a:p>
            <a:pPr algn="l">
              <a:buFont typeface="Arial" panose="020B0604020202020204" pitchFamily="34" charset="0"/>
              <a:buChar char="•"/>
            </a:pPr>
            <a:endParaRPr lang="fr-FR" sz="1000" b="0" i="0" dirty="0">
              <a:effectLst/>
              <a:latin typeface="Open Sans"/>
            </a:endParaRPr>
          </a:p>
          <a:p>
            <a:pPr algn="l">
              <a:buFont typeface="Arial" panose="020B0604020202020204" pitchFamily="34" charset="0"/>
              <a:buChar char="•"/>
            </a:pPr>
            <a:endParaRPr lang="fr-FR" sz="1000" dirty="0">
              <a:latin typeface="Open Sans"/>
            </a:endParaRPr>
          </a:p>
          <a:p>
            <a:pPr algn="l">
              <a:buFont typeface="Arial" panose="020B0604020202020204" pitchFamily="34" charset="0"/>
              <a:buChar char="•"/>
            </a:pPr>
            <a:endParaRPr lang="fr-FR" sz="1000" b="0" i="0" dirty="0">
              <a:effectLst/>
              <a:latin typeface="Open Sans"/>
            </a:endParaRPr>
          </a:p>
          <a:p>
            <a:pPr algn="l">
              <a:buFont typeface="Arial" panose="020B0604020202020204" pitchFamily="34" charset="0"/>
              <a:buChar char="•"/>
            </a:pPr>
            <a:endParaRPr lang="fr-FR" sz="1000" dirty="0">
              <a:latin typeface="Open Sans"/>
            </a:endParaRPr>
          </a:p>
          <a:p>
            <a:r>
              <a:rPr lang="fr-FR" sz="1000" b="0" i="0" dirty="0">
                <a:effectLst/>
                <a:latin typeface="Open Sans"/>
              </a:rPr>
              <a:t>Cliquez sur le type de marge souhaité. Pour obtenir la largeur de marge la plus courante, cliquez sur </a:t>
            </a:r>
            <a:r>
              <a:rPr lang="fr-FR" sz="1000" b="1" i="0" dirty="0">
                <a:effectLst/>
                <a:latin typeface="Open Sans"/>
              </a:rPr>
              <a:t>Normales</a:t>
            </a:r>
            <a:r>
              <a:rPr lang="fr-FR" sz="1000" b="0" i="0" dirty="0">
                <a:effectLst/>
                <a:latin typeface="Open Sans"/>
              </a:rPr>
              <a:t>. Lorsque vous cliquez sur le type de marge souhaité, tout votre document prend automatiquement ces dimensions.</a:t>
            </a:r>
          </a:p>
          <a:p>
            <a:pPr algn="l">
              <a:buFont typeface="+mj-lt"/>
              <a:buAutoNum type="arabicPeriod"/>
            </a:pPr>
            <a:endParaRPr lang="fr-FR" sz="1000" dirty="0">
              <a:latin typeface="Open Sans"/>
            </a:endParaRPr>
          </a:p>
          <a:p>
            <a:r>
              <a:rPr lang="fr-FR" sz="1000" dirty="0"/>
              <a:t>Vous pouvez aussi choisir : </a:t>
            </a:r>
            <a:r>
              <a:rPr lang="fr-FR" sz="1000" b="1" dirty="0">
                <a:effectLst/>
              </a:rPr>
              <a:t>Etroites, Moyennes </a:t>
            </a:r>
            <a:r>
              <a:rPr lang="fr-FR" sz="1000" dirty="0">
                <a:effectLst/>
              </a:rPr>
              <a:t>ou</a:t>
            </a:r>
            <a:r>
              <a:rPr lang="fr-FR" sz="1000" dirty="0"/>
              <a:t> </a:t>
            </a:r>
            <a:r>
              <a:rPr lang="fr-FR" sz="1000" b="1" i="0" dirty="0">
                <a:effectLst/>
                <a:latin typeface="Open Sans"/>
              </a:rPr>
              <a:t>Larges.</a:t>
            </a:r>
          </a:p>
          <a:p>
            <a:endParaRPr lang="fr-FR" sz="1000" b="1" dirty="0">
              <a:solidFill>
                <a:srgbClr val="616161"/>
              </a:solidFill>
              <a:latin typeface="Open Sans"/>
            </a:endParaRPr>
          </a:p>
          <a:p>
            <a:endParaRPr lang="fr-FR" sz="1000" b="1" i="0" dirty="0">
              <a:solidFill>
                <a:srgbClr val="616161"/>
              </a:solidFill>
              <a:effectLst/>
              <a:latin typeface="Open Sans"/>
            </a:endParaRPr>
          </a:p>
          <a:p>
            <a:r>
              <a:rPr lang="fr-FR" sz="1400" b="0" i="0" dirty="0">
                <a:effectLst/>
                <a:latin typeface="Times New Roman" panose="02020603050405020304" pitchFamily="18" charset="0"/>
                <a:cs typeface="Times New Roman" panose="02020603050405020304" pitchFamily="18" charset="0"/>
              </a:rPr>
              <a:t>Vous pouvez enfin spécifier vos propres paramètres de marge. Cliquez sur </a:t>
            </a:r>
            <a:r>
              <a:rPr lang="fr-FR" sz="1400" b="1" i="0" dirty="0">
                <a:effectLst/>
                <a:latin typeface="Times New Roman" panose="02020603050405020304" pitchFamily="18" charset="0"/>
                <a:cs typeface="Times New Roman" panose="02020603050405020304" pitchFamily="18" charset="0"/>
              </a:rPr>
              <a:t>Marges</a:t>
            </a:r>
            <a:r>
              <a:rPr lang="fr-FR" sz="1400" b="0" i="0" dirty="0">
                <a:effectLst/>
                <a:latin typeface="Times New Roman" panose="02020603050405020304" pitchFamily="18" charset="0"/>
                <a:cs typeface="Times New Roman" panose="02020603050405020304" pitchFamily="18" charset="0"/>
              </a:rPr>
              <a:t>, sur </a:t>
            </a:r>
            <a:r>
              <a:rPr lang="fr-FR" sz="1400" b="1" i="0" dirty="0">
                <a:effectLst/>
                <a:latin typeface="Times New Roman" panose="02020603050405020304" pitchFamily="18" charset="0"/>
                <a:cs typeface="Times New Roman" panose="02020603050405020304" pitchFamily="18" charset="0"/>
              </a:rPr>
              <a:t>Marges personnalisées</a:t>
            </a:r>
            <a:r>
              <a:rPr lang="fr-FR" sz="1400" b="0" i="0" dirty="0">
                <a:effectLst/>
                <a:latin typeface="Times New Roman" panose="02020603050405020304" pitchFamily="18" charset="0"/>
                <a:cs typeface="Times New Roman" panose="02020603050405020304" pitchFamily="18" charset="0"/>
              </a:rPr>
              <a:t>, puis, dans les zones </a:t>
            </a:r>
            <a:r>
              <a:rPr lang="fr-FR" sz="1400" b="1" i="0" dirty="0">
                <a:effectLst/>
                <a:latin typeface="Times New Roman" panose="02020603050405020304" pitchFamily="18" charset="0"/>
                <a:cs typeface="Times New Roman" panose="02020603050405020304" pitchFamily="18" charset="0"/>
              </a:rPr>
              <a:t>Haut</a:t>
            </a:r>
            <a:r>
              <a:rPr lang="fr-FR" sz="1400" b="0" i="0" dirty="0">
                <a:effectLst/>
                <a:latin typeface="Times New Roman" panose="02020603050405020304" pitchFamily="18" charset="0"/>
                <a:cs typeface="Times New Roman" panose="02020603050405020304" pitchFamily="18" charset="0"/>
              </a:rPr>
              <a:t>, </a:t>
            </a:r>
            <a:r>
              <a:rPr lang="fr-FR" sz="1400" b="1" i="0" dirty="0">
                <a:effectLst/>
                <a:latin typeface="Times New Roman" panose="02020603050405020304" pitchFamily="18" charset="0"/>
                <a:cs typeface="Times New Roman" panose="02020603050405020304" pitchFamily="18" charset="0"/>
              </a:rPr>
              <a:t>Bas</a:t>
            </a:r>
            <a:r>
              <a:rPr lang="fr-FR" sz="1400" b="0" i="0" dirty="0">
                <a:effectLst/>
                <a:latin typeface="Times New Roman" panose="02020603050405020304" pitchFamily="18" charset="0"/>
                <a:cs typeface="Times New Roman" panose="02020603050405020304" pitchFamily="18" charset="0"/>
              </a:rPr>
              <a:t>, </a:t>
            </a:r>
            <a:r>
              <a:rPr lang="fr-FR" sz="1400" b="1" i="0" dirty="0">
                <a:effectLst/>
                <a:latin typeface="Times New Roman" panose="02020603050405020304" pitchFamily="18" charset="0"/>
                <a:cs typeface="Times New Roman" panose="02020603050405020304" pitchFamily="18" charset="0"/>
              </a:rPr>
              <a:t>Gauche</a:t>
            </a:r>
            <a:r>
              <a:rPr lang="fr-FR" sz="1400" b="0" i="0" dirty="0">
                <a:effectLst/>
                <a:latin typeface="Times New Roman" panose="02020603050405020304" pitchFamily="18" charset="0"/>
                <a:cs typeface="Times New Roman" panose="02020603050405020304" pitchFamily="18" charset="0"/>
              </a:rPr>
              <a:t> et </a:t>
            </a:r>
            <a:r>
              <a:rPr lang="fr-FR" sz="1400" b="1" i="0" dirty="0">
                <a:effectLst/>
                <a:latin typeface="Times New Roman" panose="02020603050405020304" pitchFamily="18" charset="0"/>
                <a:cs typeface="Times New Roman" panose="02020603050405020304" pitchFamily="18" charset="0"/>
              </a:rPr>
              <a:t>Droite </a:t>
            </a:r>
            <a:r>
              <a:rPr lang="fr-FR" sz="1400" b="0" i="0" dirty="0">
                <a:effectLst/>
                <a:latin typeface="Times New Roman" panose="02020603050405020304" pitchFamily="18" charset="0"/>
                <a:cs typeface="Times New Roman" panose="02020603050405020304" pitchFamily="18" charset="0"/>
              </a:rPr>
              <a:t>, entrez les nouvelles valeurs des marges.</a:t>
            </a:r>
          </a:p>
          <a:p>
            <a:br>
              <a:rPr lang="fr-FR" sz="800" b="0" i="0" u="none" strike="noStrike" dirty="0">
                <a:solidFill>
                  <a:srgbClr val="6F92C3"/>
                </a:solidFill>
                <a:effectLst/>
                <a:latin typeface="Open Sans"/>
                <a:hlinkClick r:id="rId2"/>
              </a:rPr>
            </a:br>
            <a:br>
              <a:rPr lang="fr-FR" sz="1000" b="1" dirty="0">
                <a:effectLst/>
              </a:rPr>
            </a:br>
            <a:endParaRPr lang="fr-FR" sz="1400" b="0" i="0" dirty="0">
              <a:effectLst/>
              <a:latin typeface="Open Sans"/>
            </a:endParaRPr>
          </a:p>
        </p:txBody>
      </p:sp>
      <p:pic>
        <p:nvPicPr>
          <p:cNvPr id="9218" name="Picture 2" descr="menu marges">
            <a:extLst>
              <a:ext uri="{FF2B5EF4-FFF2-40B4-BE49-F238E27FC236}">
                <a16:creationId xmlns:a16="http://schemas.microsoft.com/office/drawing/2014/main" id="{9C6C8546-7EDC-48EC-93B5-8E33DDFBF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275606"/>
            <a:ext cx="394335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344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6</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l’orientation Paysage ou Portrait dans Word</a:t>
            </a:r>
            <a:endParaRPr lang="fr-FR" sz="2500" dirty="0"/>
          </a:p>
        </p:txBody>
      </p:sp>
      <p:sp>
        <p:nvSpPr>
          <p:cNvPr id="6147" name="Rectangle 3"/>
          <p:cNvSpPr>
            <a:spLocks noGrp="1" noChangeArrowheads="1"/>
          </p:cNvSpPr>
          <p:nvPr>
            <p:ph type="body" sz="quarter" idx="4294967295"/>
          </p:nvPr>
        </p:nvSpPr>
        <p:spPr>
          <a:xfrm>
            <a:off x="1547665" y="771550"/>
            <a:ext cx="7056784" cy="3168352"/>
          </a:xfrm>
          <a:prstGeom prst="rect">
            <a:avLst/>
          </a:prstGeom>
        </p:spPr>
        <p:txBody>
          <a:bodyPr/>
          <a:lstStyle/>
          <a:p>
            <a:pPr algn="l">
              <a:buFont typeface="Arial" panose="020B0604020202020204" pitchFamily="34" charset="0"/>
              <a:buChar char="•"/>
            </a:pPr>
            <a:r>
              <a:rPr lang="fr-FR" sz="1500" b="0" i="0" dirty="0">
                <a:effectLst/>
                <a:latin typeface="Times New Roman" panose="02020603050405020304" pitchFamily="18" charset="0"/>
                <a:cs typeface="Times New Roman" panose="02020603050405020304" pitchFamily="18" charset="0"/>
              </a:rPr>
              <a:t>Vous pouvez opter pour une orientation </a:t>
            </a:r>
            <a:r>
              <a:rPr lang="fr-FR" sz="1500" b="1" i="0" dirty="0">
                <a:effectLst/>
                <a:latin typeface="Times New Roman" panose="02020603050405020304" pitchFamily="18" charset="0"/>
                <a:cs typeface="Times New Roman" panose="02020603050405020304" pitchFamily="18" charset="0"/>
              </a:rPr>
              <a:t>Portrait</a:t>
            </a:r>
            <a:r>
              <a:rPr lang="fr-FR" sz="1500" b="0" i="0" dirty="0">
                <a:effectLst/>
                <a:latin typeface="Times New Roman" panose="02020603050405020304" pitchFamily="18" charset="0"/>
                <a:cs typeface="Times New Roman" panose="02020603050405020304" pitchFamily="18" charset="0"/>
              </a:rPr>
              <a:t> (verticale) ou </a:t>
            </a:r>
            <a:r>
              <a:rPr lang="fr-FR" sz="1500" b="1" i="0" dirty="0">
                <a:effectLst/>
                <a:latin typeface="Times New Roman" panose="02020603050405020304" pitchFamily="18" charset="0"/>
                <a:cs typeface="Times New Roman" panose="02020603050405020304" pitchFamily="18" charset="0"/>
              </a:rPr>
              <a:t>Paysage</a:t>
            </a:r>
            <a:r>
              <a:rPr lang="fr-FR" sz="1500" b="0" i="0" dirty="0">
                <a:effectLst/>
                <a:latin typeface="Times New Roman" panose="02020603050405020304" pitchFamily="18" charset="0"/>
                <a:cs typeface="Times New Roman" panose="02020603050405020304" pitchFamily="18" charset="0"/>
              </a:rPr>
              <a:t> (horizontale) pour tout ou partie de votre document Word.</a:t>
            </a: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fr-FR" sz="15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fr-FR" sz="1500" b="0" i="0" dirty="0">
                <a:effectLst/>
                <a:latin typeface="Times New Roman" panose="02020603050405020304" pitchFamily="18" charset="0"/>
                <a:cs typeface="Times New Roman" panose="02020603050405020304" pitchFamily="18" charset="0"/>
              </a:rPr>
              <a:t>Cliquez sur &gt; </a:t>
            </a:r>
            <a:r>
              <a:rPr lang="fr-FR" sz="1500" b="1" i="0" dirty="0">
                <a:effectLst/>
                <a:latin typeface="Times New Roman" panose="02020603050405020304" pitchFamily="18" charset="0"/>
                <a:cs typeface="Times New Roman" panose="02020603050405020304" pitchFamily="18" charset="0"/>
              </a:rPr>
              <a:t>Mise en page</a:t>
            </a:r>
            <a:r>
              <a:rPr lang="fr-FR" sz="1500" b="0" i="0" dirty="0">
                <a:effectLst/>
                <a:latin typeface="Times New Roman" panose="02020603050405020304" pitchFamily="18" charset="0"/>
                <a:cs typeface="Times New Roman" panose="02020603050405020304" pitchFamily="18" charset="0"/>
              </a:rPr>
              <a:t> &gt; </a:t>
            </a:r>
            <a:r>
              <a:rPr lang="fr-FR" sz="1500" b="1" i="0" dirty="0">
                <a:effectLst/>
                <a:latin typeface="Times New Roman" panose="02020603050405020304" pitchFamily="18" charset="0"/>
                <a:cs typeface="Times New Roman" panose="02020603050405020304" pitchFamily="18" charset="0"/>
              </a:rPr>
              <a:t>Orientation</a:t>
            </a:r>
          </a:p>
          <a:p>
            <a:r>
              <a:rPr lang="fr-FR" sz="1500" b="0" i="0" dirty="0">
                <a:effectLst/>
                <a:latin typeface="Times New Roman" panose="02020603050405020304" pitchFamily="18" charset="0"/>
                <a:cs typeface="Times New Roman" panose="02020603050405020304" pitchFamily="18" charset="0"/>
              </a:rPr>
              <a:t>Cliquez sur </a:t>
            </a:r>
            <a:r>
              <a:rPr lang="fr-FR" sz="1500" b="1" i="0" dirty="0">
                <a:effectLst/>
                <a:latin typeface="Times New Roman" panose="02020603050405020304" pitchFamily="18" charset="0"/>
                <a:cs typeface="Times New Roman" panose="02020603050405020304" pitchFamily="18" charset="0"/>
              </a:rPr>
              <a:t>Portrait</a:t>
            </a:r>
            <a:r>
              <a:rPr lang="fr-FR" sz="1500" b="0" i="0" dirty="0">
                <a:effectLst/>
                <a:latin typeface="Times New Roman" panose="02020603050405020304" pitchFamily="18" charset="0"/>
                <a:cs typeface="Times New Roman" panose="02020603050405020304" pitchFamily="18" charset="0"/>
              </a:rPr>
              <a:t> ou sur </a:t>
            </a:r>
            <a:r>
              <a:rPr lang="fr-FR" sz="1500" b="1" i="0" dirty="0">
                <a:effectLst/>
                <a:latin typeface="Times New Roman" panose="02020603050405020304" pitchFamily="18" charset="0"/>
                <a:cs typeface="Times New Roman" panose="02020603050405020304" pitchFamily="18" charset="0"/>
              </a:rPr>
              <a:t>Paysage</a:t>
            </a:r>
            <a:r>
              <a:rPr lang="fr-FR" sz="1500" b="0" i="0" dirty="0">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endParaRPr lang="fr-FR" sz="1000" dirty="0">
              <a:solidFill>
                <a:srgbClr val="616161"/>
              </a:solidFill>
              <a:latin typeface="Open Sans"/>
            </a:endParaRPr>
          </a:p>
          <a:p>
            <a:pPr algn="l">
              <a:buFont typeface="Arial" panose="020B0604020202020204" pitchFamily="34" charset="0"/>
              <a:buChar char="•"/>
            </a:pPr>
            <a:endParaRPr lang="fr-FR" sz="1000" b="0" i="0" dirty="0">
              <a:solidFill>
                <a:srgbClr val="616161"/>
              </a:solidFill>
              <a:effectLst/>
              <a:latin typeface="Open Sans"/>
            </a:endParaRPr>
          </a:p>
          <a:p>
            <a:pPr algn="l">
              <a:buFont typeface="Arial" panose="020B0604020202020204" pitchFamily="34" charset="0"/>
              <a:buChar char="•"/>
            </a:pPr>
            <a:endParaRPr lang="fr-FR" sz="1000" dirty="0">
              <a:solidFill>
                <a:srgbClr val="616161"/>
              </a:solidFill>
              <a:latin typeface="Open Sans"/>
            </a:endParaRPr>
          </a:p>
          <a:p>
            <a:pPr algn="l">
              <a:buFont typeface="Arial" panose="020B0604020202020204" pitchFamily="34" charset="0"/>
              <a:buChar char="•"/>
            </a:pPr>
            <a:endParaRPr lang="fr-FR" sz="1000" b="0" i="0" dirty="0">
              <a:solidFill>
                <a:srgbClr val="616161"/>
              </a:solidFill>
              <a:effectLst/>
              <a:latin typeface="Open Sans"/>
            </a:endParaRPr>
          </a:p>
          <a:p>
            <a:pPr algn="l">
              <a:buFont typeface="Arial" panose="020B0604020202020204" pitchFamily="34" charset="0"/>
              <a:buChar char="•"/>
            </a:pPr>
            <a:endParaRPr lang="fr-FR" sz="1400" b="0" i="0" dirty="0">
              <a:solidFill>
                <a:srgbClr val="616161"/>
              </a:solidFill>
              <a:effectLst/>
              <a:latin typeface="Open Sans"/>
            </a:endParaRPr>
          </a:p>
        </p:txBody>
      </p:sp>
      <p:pic>
        <p:nvPicPr>
          <p:cNvPr id="10242" name="Picture 2" descr="orientation page">
            <a:extLst>
              <a:ext uri="{FF2B5EF4-FFF2-40B4-BE49-F238E27FC236}">
                <a16:creationId xmlns:a16="http://schemas.microsoft.com/office/drawing/2014/main" id="{EF243E7D-BA8D-4F4A-B7BA-52FF644D6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1463988"/>
            <a:ext cx="5343525" cy="144016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Options d’orientation de page">
            <a:extLst>
              <a:ext uri="{FF2B5EF4-FFF2-40B4-BE49-F238E27FC236}">
                <a16:creationId xmlns:a16="http://schemas.microsoft.com/office/drawing/2014/main" id="{987C6C42-B77C-4454-BCD9-2431FDC7A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3596586"/>
            <a:ext cx="3409950" cy="119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655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7</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Insérer un Saut de page avec Word</a:t>
            </a:r>
            <a:endParaRPr lang="fr-FR" sz="2500" dirty="0"/>
          </a:p>
        </p:txBody>
      </p:sp>
      <p:sp>
        <p:nvSpPr>
          <p:cNvPr id="6147" name="Rectangle 3"/>
          <p:cNvSpPr>
            <a:spLocks noGrp="1" noChangeArrowheads="1"/>
          </p:cNvSpPr>
          <p:nvPr>
            <p:ph type="body" sz="quarter" idx="4294967295"/>
          </p:nvPr>
        </p:nvSpPr>
        <p:spPr>
          <a:xfrm>
            <a:off x="2123728" y="771550"/>
            <a:ext cx="7042265" cy="2736304"/>
          </a:xfrm>
          <a:prstGeom prst="rect">
            <a:avLst/>
          </a:prstGeom>
        </p:spPr>
        <p:txBody>
          <a:bodyPr/>
          <a:lstStyle/>
          <a:p>
            <a:pPr algn="l">
              <a:buFont typeface="Arial" panose="020B0604020202020204" pitchFamily="34" charset="0"/>
              <a:buChar char="•"/>
            </a:pPr>
            <a:r>
              <a:rPr lang="fr-FR" sz="1500" b="0" i="0" dirty="0">
                <a:effectLst/>
                <a:latin typeface="Times New Roman" panose="02020603050405020304" pitchFamily="18" charset="0"/>
                <a:cs typeface="Times New Roman" panose="02020603050405020304" pitchFamily="18" charset="0"/>
              </a:rPr>
              <a:t>Vous pouvez insérer un </a:t>
            </a:r>
            <a:r>
              <a:rPr lang="fr-FR" sz="1500" b="1" i="0" dirty="0">
                <a:effectLst/>
                <a:latin typeface="Times New Roman" panose="02020603050405020304" pitchFamily="18" charset="0"/>
                <a:cs typeface="Times New Roman" panose="02020603050405020304" pitchFamily="18" charset="0"/>
              </a:rPr>
              <a:t>saut de page</a:t>
            </a:r>
            <a:r>
              <a:rPr lang="fr-FR" sz="1500" b="0" i="0" dirty="0">
                <a:effectLst/>
                <a:latin typeface="Times New Roman" panose="02020603050405020304" pitchFamily="18" charset="0"/>
                <a:cs typeface="Times New Roman" panose="02020603050405020304" pitchFamily="18" charset="0"/>
              </a:rPr>
              <a:t> n’importe où dans votre document ou préciser à Word l’emplacement des sauts de page automatiques.</a:t>
            </a:r>
          </a:p>
          <a:p>
            <a:pPr marL="0" indent="0" algn="l">
              <a:buNone/>
            </a:pPr>
            <a:endParaRPr lang="fr-FR" sz="15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fr-FR" sz="1500" b="0" i="0" dirty="0">
                <a:effectLst/>
                <a:latin typeface="Times New Roman" panose="02020603050405020304" pitchFamily="18" charset="0"/>
                <a:cs typeface="Times New Roman" panose="02020603050405020304" pitchFamily="18" charset="0"/>
              </a:rPr>
              <a:t>Si vous insérez des</a:t>
            </a:r>
            <a:r>
              <a:rPr lang="fr-FR" sz="1500" b="1" i="0" dirty="0">
                <a:effectLst/>
                <a:latin typeface="Times New Roman" panose="02020603050405020304" pitchFamily="18" charset="0"/>
                <a:cs typeface="Times New Roman" panose="02020603050405020304" pitchFamily="18" charset="0"/>
              </a:rPr>
              <a:t> sauts de page manuels</a:t>
            </a:r>
            <a:r>
              <a:rPr lang="fr-FR" sz="1500" b="0" i="0" dirty="0">
                <a:effectLst/>
                <a:latin typeface="Times New Roman" panose="02020603050405020304" pitchFamily="18" charset="0"/>
                <a:cs typeface="Times New Roman" panose="02020603050405020304" pitchFamily="18" charset="0"/>
              </a:rPr>
              <a:t> dans des documents contenant plusieurs </a:t>
            </a:r>
          </a:p>
          <a:p>
            <a:pPr marL="0" indent="0" algn="l">
              <a:buNone/>
            </a:pPr>
            <a:r>
              <a:rPr lang="fr-FR" sz="1500" dirty="0">
                <a:latin typeface="Times New Roman" panose="02020603050405020304" pitchFamily="18" charset="0"/>
                <a:cs typeface="Times New Roman" panose="02020603050405020304" pitchFamily="18" charset="0"/>
              </a:rPr>
              <a:t>        </a:t>
            </a:r>
            <a:r>
              <a:rPr lang="fr-FR" sz="1500" b="0" i="0" dirty="0">
                <a:effectLst/>
                <a:latin typeface="Times New Roman" panose="02020603050405020304" pitchFamily="18" charset="0"/>
                <a:cs typeface="Times New Roman" panose="02020603050405020304" pitchFamily="18" charset="0"/>
              </a:rPr>
              <a:t>pages, vous risquez de devoir les réinsérer au fur et à mesure de vos modifications. </a:t>
            </a:r>
          </a:p>
          <a:p>
            <a:pPr algn="l">
              <a:buFont typeface="Arial" panose="020B0604020202020204" pitchFamily="34" charset="0"/>
              <a:buChar char="•"/>
            </a:pPr>
            <a:endParaRPr lang="fr-FR" sz="15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fr-FR" sz="1500" b="0" i="0" dirty="0">
                <a:effectLst/>
                <a:latin typeface="Times New Roman" panose="02020603050405020304" pitchFamily="18" charset="0"/>
                <a:cs typeface="Times New Roman" panose="02020603050405020304" pitchFamily="18" charset="0"/>
              </a:rPr>
              <a:t>Pour éviter cette opération délicate, vous pouvez définir des options pour contrôler l’emplacement des sauts de page automatiques dans Word.</a:t>
            </a:r>
          </a:p>
        </p:txBody>
      </p:sp>
      <p:sp>
        <p:nvSpPr>
          <p:cNvPr id="6" name="ZoneTexte 5">
            <a:extLst>
              <a:ext uri="{FF2B5EF4-FFF2-40B4-BE49-F238E27FC236}">
                <a16:creationId xmlns:a16="http://schemas.microsoft.com/office/drawing/2014/main" id="{FB07B9AD-A7D7-4C38-BBBD-5D534B58E8BF}"/>
              </a:ext>
            </a:extLst>
          </p:cNvPr>
          <p:cNvSpPr txBox="1"/>
          <p:nvPr/>
        </p:nvSpPr>
        <p:spPr>
          <a:xfrm>
            <a:off x="2259419" y="2380438"/>
            <a:ext cx="4603896" cy="369332"/>
          </a:xfrm>
          <a:prstGeom prst="rect">
            <a:avLst/>
          </a:prstGeom>
          <a:noFill/>
        </p:spPr>
        <p:txBody>
          <a:bodyPr wrap="square">
            <a:spAutoFit/>
          </a:bodyPr>
          <a:lstStyle/>
          <a:p>
            <a:r>
              <a:rPr lang="fr-FR" sz="1800" dirty="0"/>
              <a:t>Mise en Page</a:t>
            </a:r>
            <a:endParaRPr lang="fr-FR" dirty="0"/>
          </a:p>
        </p:txBody>
      </p:sp>
      <p:sp>
        <p:nvSpPr>
          <p:cNvPr id="8" name="ZoneTexte 7">
            <a:extLst>
              <a:ext uri="{FF2B5EF4-FFF2-40B4-BE49-F238E27FC236}">
                <a16:creationId xmlns:a16="http://schemas.microsoft.com/office/drawing/2014/main" id="{A7F1C0E6-4D07-4E2B-A8D9-B4A3679CB6F1}"/>
              </a:ext>
            </a:extLst>
          </p:cNvPr>
          <p:cNvSpPr txBox="1"/>
          <p:nvPr/>
        </p:nvSpPr>
        <p:spPr>
          <a:xfrm>
            <a:off x="2259419" y="2380438"/>
            <a:ext cx="4603896" cy="369332"/>
          </a:xfrm>
          <a:prstGeom prst="rect">
            <a:avLst/>
          </a:prstGeom>
          <a:noFill/>
        </p:spPr>
        <p:txBody>
          <a:bodyPr wrap="square">
            <a:spAutoFit/>
          </a:bodyPr>
          <a:lstStyle/>
          <a:p>
            <a:r>
              <a:rPr lang="fr-FR" sz="1800" dirty="0"/>
              <a:t>Mise en Page</a:t>
            </a:r>
            <a:endParaRPr lang="fr-FR" dirty="0"/>
          </a:p>
        </p:txBody>
      </p:sp>
    </p:spTree>
    <p:extLst>
      <p:ext uri="{BB962C8B-B14F-4D97-AF65-F5344CB8AC3E}">
        <p14:creationId xmlns:p14="http://schemas.microsoft.com/office/powerpoint/2010/main" val="3836307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8</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Sections</a:t>
            </a:r>
          </a:p>
        </p:txBody>
      </p:sp>
      <p:sp>
        <p:nvSpPr>
          <p:cNvPr id="6147" name="Rectangle 3"/>
          <p:cNvSpPr>
            <a:spLocks noGrp="1" noChangeArrowheads="1"/>
          </p:cNvSpPr>
          <p:nvPr>
            <p:ph type="body" sz="quarter" idx="4294967295"/>
          </p:nvPr>
        </p:nvSpPr>
        <p:spPr>
          <a:xfrm>
            <a:off x="1547664" y="771550"/>
            <a:ext cx="7618329" cy="2736304"/>
          </a:xfrm>
          <a:prstGeom prst="rect">
            <a:avLst/>
          </a:prstGeom>
        </p:spPr>
        <p:txBody>
          <a:bodyPr/>
          <a:lstStyle/>
          <a:p>
            <a:r>
              <a:rPr lang="fr-FR" sz="2400" dirty="0"/>
              <a:t>Utilisez des sauts de section pour diviser et mettre en forme des documents de toutes tailles. </a:t>
            </a:r>
          </a:p>
          <a:p>
            <a:r>
              <a:rPr lang="fr-FR" sz="2400" dirty="0"/>
              <a:t>Par exemple:</a:t>
            </a:r>
          </a:p>
          <a:p>
            <a:pPr lvl="1"/>
            <a:r>
              <a:rPr lang="fr-FR" sz="2000" dirty="0"/>
              <a:t>vous pouvez découper des sections en chapitres et ajouter une mise en forme, par exemple des colonnes, </a:t>
            </a:r>
          </a:p>
          <a:p>
            <a:pPr marL="457200" lvl="1" indent="0">
              <a:buNone/>
            </a:pPr>
            <a:r>
              <a:rPr lang="fr-FR" sz="2000" dirty="0"/>
              <a:t>    des en-têtes et des pieds de page, des bordures de page          </a:t>
            </a:r>
          </a:p>
          <a:p>
            <a:pPr marL="457200" lvl="1" indent="0">
              <a:buNone/>
            </a:pPr>
            <a:r>
              <a:rPr lang="fr-FR" sz="2000" dirty="0"/>
              <a:t>    à chacun.</a:t>
            </a:r>
            <a:br>
              <a:rPr lang="fr-FR" sz="2000" dirty="0"/>
            </a:br>
            <a:endParaRPr lang="fr-FR" sz="1900" dirty="0"/>
          </a:p>
        </p:txBody>
      </p:sp>
    </p:spTree>
    <p:extLst>
      <p:ext uri="{BB962C8B-B14F-4D97-AF65-F5344CB8AC3E}">
        <p14:creationId xmlns:p14="http://schemas.microsoft.com/office/powerpoint/2010/main" val="2717718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9</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Ajouter un saut de section</a:t>
            </a:r>
          </a:p>
        </p:txBody>
      </p:sp>
      <p:sp>
        <p:nvSpPr>
          <p:cNvPr id="6147" name="Rectangle 3"/>
          <p:cNvSpPr>
            <a:spLocks noGrp="1" noChangeArrowheads="1"/>
          </p:cNvSpPr>
          <p:nvPr>
            <p:ph type="body" sz="quarter" idx="4294967295"/>
          </p:nvPr>
        </p:nvSpPr>
        <p:spPr>
          <a:xfrm>
            <a:off x="1547664" y="771550"/>
            <a:ext cx="7618329" cy="2736304"/>
          </a:xfrm>
          <a:prstGeom prst="rect">
            <a:avLst/>
          </a:prstGeom>
        </p:spPr>
        <p:txBody>
          <a:bodyPr/>
          <a:lstStyle/>
          <a:p>
            <a:pPr algn="l">
              <a:buFont typeface="+mj-lt"/>
              <a:buAutoNum type="arabicPeriod"/>
            </a:pPr>
            <a:r>
              <a:rPr lang="fr-FR" sz="1400" b="0" i="0" dirty="0">
                <a:solidFill>
                  <a:srgbClr val="1E1E1E"/>
                </a:solidFill>
                <a:effectLst/>
                <a:latin typeface="Segoe UI" panose="020B0502040204020203" pitchFamily="34" charset="0"/>
              </a:rPr>
              <a:t>Sélectionnez l’emplacement où vous souhaitez qu’une nouvelle section commence.</a:t>
            </a:r>
          </a:p>
          <a:p>
            <a:pPr algn="l">
              <a:buFont typeface="+mj-lt"/>
              <a:buAutoNum type="arabicPeriod"/>
            </a:pPr>
            <a:r>
              <a:rPr lang="fr-FR" sz="1400" b="0" i="0" dirty="0">
                <a:solidFill>
                  <a:srgbClr val="1E1E1E"/>
                </a:solidFill>
                <a:effectLst/>
                <a:latin typeface="Segoe UI" panose="020B0502040204020203" pitchFamily="34" charset="0"/>
              </a:rPr>
              <a:t>Accédez à </a:t>
            </a:r>
            <a:r>
              <a:rPr lang="fr-FR" sz="1400" b="1" i="0" dirty="0">
                <a:solidFill>
                  <a:srgbClr val="1E1E1E"/>
                </a:solidFill>
                <a:effectLst/>
                <a:latin typeface="Segoe UI" panose="020B0502040204020203" pitchFamily="34" charset="0"/>
              </a:rPr>
              <a:t>disposition</a:t>
            </a:r>
            <a:r>
              <a:rPr lang="fr-FR" sz="1400" b="0" i="0" dirty="0">
                <a:solidFill>
                  <a:srgbClr val="1E1E1E"/>
                </a:solidFill>
                <a:effectLst/>
                <a:latin typeface="Segoe UI" panose="020B0502040204020203" pitchFamily="34" charset="0"/>
              </a:rPr>
              <a:t> &gt; </a:t>
            </a:r>
            <a:r>
              <a:rPr lang="fr-FR" sz="1400" b="1" i="0" dirty="0" err="1">
                <a:solidFill>
                  <a:srgbClr val="1E1E1E"/>
                </a:solidFill>
                <a:effectLst/>
                <a:latin typeface="Segoe UI" panose="020B0502040204020203" pitchFamily="34" charset="0"/>
              </a:rPr>
              <a:t>sauts</a:t>
            </a:r>
            <a:r>
              <a:rPr lang="fr-FR" sz="1400" b="0" i="0" dirty="0" err="1">
                <a:solidFill>
                  <a:srgbClr val="1E1E1E"/>
                </a:solidFill>
                <a:effectLst/>
                <a:latin typeface="Segoe UI" panose="020B0502040204020203" pitchFamily="34" charset="0"/>
              </a:rPr>
              <a:t>de</a:t>
            </a:r>
            <a:r>
              <a:rPr lang="fr-FR" sz="1400" b="0" i="0" dirty="0">
                <a:solidFill>
                  <a:srgbClr val="1E1E1E"/>
                </a:solidFill>
                <a:effectLst/>
                <a:latin typeface="Segoe UI" panose="020B0502040204020203" pitchFamily="34" charset="0"/>
              </a:rPr>
              <a:t> page.</a:t>
            </a:r>
          </a:p>
        </p:txBody>
      </p:sp>
      <p:pic>
        <p:nvPicPr>
          <p:cNvPr id="1026" name="Picture 2" descr="Les types de sauts de section sont mis en évidence sous l’onglet Disposition.">
            <a:extLst>
              <a:ext uri="{FF2B5EF4-FFF2-40B4-BE49-F238E27FC236}">
                <a16:creationId xmlns:a16="http://schemas.microsoft.com/office/drawing/2014/main" id="{A8D46951-7EE0-4A31-87F2-472E4B666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1173997"/>
            <a:ext cx="3127424" cy="3710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665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10</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Ajouter un saut de section</a:t>
            </a:r>
          </a:p>
        </p:txBody>
      </p:sp>
      <p:sp>
        <p:nvSpPr>
          <p:cNvPr id="6147" name="Rectangle 3"/>
          <p:cNvSpPr>
            <a:spLocks noGrp="1" noChangeArrowheads="1"/>
          </p:cNvSpPr>
          <p:nvPr>
            <p:ph type="body" sz="quarter" idx="4294967295"/>
          </p:nvPr>
        </p:nvSpPr>
        <p:spPr>
          <a:xfrm>
            <a:off x="3948882" y="3891285"/>
            <a:ext cx="7618329" cy="2736304"/>
          </a:xfrm>
          <a:prstGeom prst="rect">
            <a:avLst/>
          </a:prstGeom>
        </p:spPr>
        <p:txBody>
          <a:bodyPr/>
          <a:lstStyle/>
          <a:p>
            <a:pPr algn="l">
              <a:buFont typeface="+mj-lt"/>
              <a:buAutoNum type="arabicPeriod"/>
            </a:pPr>
            <a:r>
              <a:rPr lang="fr-FR" sz="1400" b="0" i="0" dirty="0">
                <a:solidFill>
                  <a:srgbClr val="1E1E1E"/>
                </a:solidFill>
                <a:effectLst/>
                <a:latin typeface="Segoe UI" panose="020B0502040204020203" pitchFamily="34" charset="0"/>
              </a:rPr>
              <a:t>Choisissez le type de saut de section que vous voulez :</a:t>
            </a:r>
          </a:p>
          <a:p>
            <a:pPr algn="l">
              <a:buFont typeface="+mj-lt"/>
              <a:buAutoNum type="arabicPeriod"/>
            </a:pPr>
            <a:endParaRPr lang="fr-FR" sz="1400" dirty="0">
              <a:solidFill>
                <a:srgbClr val="1E1E1E"/>
              </a:solidFill>
              <a:latin typeface="Segoe UI" panose="020B0502040204020203" pitchFamily="34" charset="0"/>
            </a:endParaRPr>
          </a:p>
          <a:p>
            <a:pPr algn="l">
              <a:buFont typeface="+mj-lt"/>
              <a:buAutoNum type="arabicPeriod"/>
            </a:pPr>
            <a:endParaRPr lang="fr-FR" sz="1400" b="0" i="0" dirty="0">
              <a:solidFill>
                <a:srgbClr val="1E1E1E"/>
              </a:solidFill>
              <a:effectLst/>
              <a:latin typeface="Segoe UI" panose="020B0502040204020203" pitchFamily="34" charset="0"/>
            </a:endParaRPr>
          </a:p>
          <a:p>
            <a:pPr algn="l">
              <a:buFont typeface="+mj-lt"/>
              <a:buAutoNum type="arabicPeriod"/>
            </a:pPr>
            <a:endParaRPr lang="fr-FR" sz="1400" b="0" i="0" dirty="0">
              <a:solidFill>
                <a:srgbClr val="1E1E1E"/>
              </a:solidFill>
              <a:effectLst/>
              <a:latin typeface="Segoe UI" panose="020B0502040204020203" pitchFamily="34" charset="0"/>
            </a:endParaRPr>
          </a:p>
        </p:txBody>
      </p:sp>
      <p:sp>
        <p:nvSpPr>
          <p:cNvPr id="3" name="Rectangle 6">
            <a:extLst>
              <a:ext uri="{FF2B5EF4-FFF2-40B4-BE49-F238E27FC236}">
                <a16:creationId xmlns:a16="http://schemas.microsoft.com/office/drawing/2014/main" id="{34E82CAE-5F33-4CB5-B344-2D7C4C47888F}"/>
              </a:ext>
            </a:extLst>
          </p:cNvPr>
          <p:cNvSpPr>
            <a:spLocks noChangeArrowheads="1"/>
          </p:cNvSpPr>
          <p:nvPr/>
        </p:nvSpPr>
        <p:spPr bwMode="auto">
          <a:xfrm>
            <a:off x="0" y="967249"/>
            <a:ext cx="9144000" cy="39276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0791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b="0" i="0" dirty="0">
                <a:solidFill>
                  <a:srgbClr val="1E1E1E"/>
                </a:solidFill>
                <a:effectLst/>
                <a:latin typeface="Segoe UI" panose="020B0502040204020203" pitchFamily="34" charset="0"/>
              </a:rPr>
              <a:t>Choisissez le type de saut de section que vous voulez :</a:t>
            </a: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Page suivante</a:t>
            </a: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Saut de section démarre la nouvelle section sur la page suivante.</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r>
              <a:rPr kumimoji="0" lang="fr-FR" altLang="fr-FR" sz="36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Continu</a:t>
            </a: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Saut de section démarre la nouvelle section sur la même page. Ce type de saut de section est souvent utilisé pour modifier le nombre de colonnes sans commencer une nouvelle page.</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r>
              <a:rPr kumimoji="0" lang="fr-FR" altLang="fr-FR" sz="39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Page paire</a:t>
            </a: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Saut de section démarre une nouvelle section sur la page paire suivante.</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r>
              <a:rPr kumimoji="0" lang="fr-FR" altLang="fr-FR" sz="38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Page impaire</a:t>
            </a: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Saut de section démarre une nouvelle section sur la page impaire suivante.</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r>
              <a:rPr kumimoji="0" lang="fr-FR" altLang="fr-FR" sz="3800" b="0" i="0" u="none" strike="noStrike" cap="none" normalizeH="0" baseline="0" dirty="0">
                <a:ln>
                  <a:noFill/>
                </a:ln>
                <a:solidFill>
                  <a:srgbClr val="1E1E1E"/>
                </a:solidFill>
                <a:effectLst/>
                <a:latin typeface="Segoe UI" panose="020B0502040204020203" pitchFamily="34" charset="0"/>
                <a:cs typeface="Segoe UI" panose="020B0502040204020203" pitchFamily="34" charset="0"/>
              </a:rPr>
              <a:t>     </a:t>
            </a:r>
            <a:endParaRPr kumimoji="0" lang="fr-FR" altLang="fr-FR" sz="1200" b="0" i="0" u="none" strike="noStrike" cap="none" normalizeH="0" baseline="0" dirty="0">
              <a:ln>
                <a:noFill/>
              </a:ln>
              <a:solidFill>
                <a:srgbClr val="36363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2055" name="Picture 7" descr="Commande Sauts de section Page suivante qui permet de démarrer une nouvelle section sur la page suivante dans un document Word">
            <a:extLst>
              <a:ext uri="{FF2B5EF4-FFF2-40B4-BE49-F238E27FC236}">
                <a16:creationId xmlns:a16="http://schemas.microsoft.com/office/drawing/2014/main" id="{CDF97C6D-B51E-466C-B34E-AC30C4B18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55866"/>
            <a:ext cx="600075" cy="5715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ommande Sauts de section continu permettant de démarrer une nouvelle section sur la même page dans un document Word">
            <a:extLst>
              <a:ext uri="{FF2B5EF4-FFF2-40B4-BE49-F238E27FC236}">
                <a16:creationId xmlns:a16="http://schemas.microsoft.com/office/drawing/2014/main" id="{66AE09FC-C523-4A1E-BC5B-D841AA257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351410"/>
            <a:ext cx="581025" cy="628650"/>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Commande Sauts de section Page paire qui permet de démarrer une nouvelle section sur la page paire suivante dans un document Word">
            <a:extLst>
              <a:ext uri="{FF2B5EF4-FFF2-40B4-BE49-F238E27FC236}">
                <a16:creationId xmlns:a16="http://schemas.microsoft.com/office/drawing/2014/main" id="{8A9F6330-3580-4CFE-B8E5-C2D1765992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3129285"/>
            <a:ext cx="5715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Commande Sauts de section Page impaire qui permet de démarrer une nouvelle section sur la page impaire suivante dans un document Word">
            <a:extLst>
              <a:ext uri="{FF2B5EF4-FFF2-40B4-BE49-F238E27FC236}">
                <a16:creationId xmlns:a16="http://schemas.microsoft.com/office/drawing/2014/main" id="{1CA312B2-4887-43ED-8339-33EC55E9A3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3891285"/>
            <a:ext cx="581025"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815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a:t>Question ?</a:t>
            </a:r>
            <a:endParaRPr lang="ko-KR" altLang="en-US"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657462"/>
      </p:ext>
    </p:extLst>
  </p:cSld>
  <p:clrMapOvr>
    <a:masterClrMapping/>
  </p:clrMapOvr>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11656</TotalTime>
  <Words>583</Words>
  <Application>Microsoft Office PowerPoint</Application>
  <PresentationFormat>Affichage à l'écran (16:9)</PresentationFormat>
  <Paragraphs>84</Paragraphs>
  <Slides>11</Slides>
  <Notes>0</Notes>
  <HiddenSlides>0</HiddenSlides>
  <MMClips>0</MMClips>
  <ScaleCrop>false</ScaleCrop>
  <HeadingPairs>
    <vt:vector size="6" baseType="variant">
      <vt:variant>
        <vt:lpstr>Polices utilisées</vt:lpstr>
      </vt:variant>
      <vt:variant>
        <vt:i4>5</vt:i4>
      </vt:variant>
      <vt:variant>
        <vt:lpstr>Thème</vt:lpstr>
      </vt:variant>
      <vt:variant>
        <vt:i4>3</vt:i4>
      </vt:variant>
      <vt:variant>
        <vt:lpstr>Titres des diapositives</vt:lpstr>
      </vt:variant>
      <vt:variant>
        <vt:i4>11</vt:i4>
      </vt:variant>
    </vt:vector>
  </HeadingPairs>
  <TitlesOfParts>
    <vt:vector size="19" baseType="lpstr">
      <vt:lpstr>Arial</vt:lpstr>
      <vt:lpstr>Calibri</vt:lpstr>
      <vt:lpstr>Open Sans</vt:lpstr>
      <vt:lpstr>Segoe UI</vt:lpstr>
      <vt:lpstr>Times New Roman</vt:lpstr>
      <vt:lpstr>Cover and End Slide Master</vt:lpstr>
      <vt:lpstr>Contents Slide Master</vt:lpstr>
      <vt:lpstr>Section Break Slide Master</vt:lpstr>
      <vt:lpstr>Présentation PowerPoint</vt:lpstr>
      <vt:lpstr>L’onglet “Mise en Page” du ruban Word</vt:lpstr>
      <vt:lpstr>Définir les marges de page avec Word</vt:lpstr>
      <vt:lpstr> Disposer votre texte en colonnes</vt:lpstr>
      <vt:lpstr>Modifier ou définir les marges de page avec Word </vt:lpstr>
      <vt:lpstr>l’orientation Paysage ou Portrait dans Word</vt:lpstr>
      <vt:lpstr>Insérer un Saut de page avec Word</vt:lpstr>
      <vt:lpstr>Sections</vt:lpstr>
      <vt:lpstr>Ajouter un saut de section</vt:lpstr>
      <vt:lpstr>Ajouter un saut de section</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AsmaAouichat@mdibs.onmicrosoft.com</cp:lastModifiedBy>
  <cp:revision>532</cp:revision>
  <dcterms:created xsi:type="dcterms:W3CDTF">2016-12-05T23:26:54Z</dcterms:created>
  <dcterms:modified xsi:type="dcterms:W3CDTF">2021-02-20T19:03:19Z</dcterms:modified>
</cp:coreProperties>
</file>