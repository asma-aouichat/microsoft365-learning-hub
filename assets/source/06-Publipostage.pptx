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  <p:sldMasterId id="2147483653" r:id="rId3"/>
  </p:sldMasterIdLst>
  <p:notesMasterIdLst>
    <p:notesMasterId r:id="rId17"/>
  </p:notesMasterIdLst>
  <p:handoutMasterIdLst>
    <p:handoutMasterId r:id="rId18"/>
  </p:handoutMasterIdLst>
  <p:sldIdLst>
    <p:sldId id="256" r:id="rId4"/>
    <p:sldId id="422" r:id="rId5"/>
    <p:sldId id="423" r:id="rId6"/>
    <p:sldId id="424" r:id="rId7"/>
    <p:sldId id="425" r:id="rId8"/>
    <p:sldId id="426" r:id="rId9"/>
    <p:sldId id="427" r:id="rId10"/>
    <p:sldId id="428" r:id="rId11"/>
    <p:sldId id="429" r:id="rId12"/>
    <p:sldId id="430" r:id="rId13"/>
    <p:sldId id="431" r:id="rId14"/>
    <p:sldId id="432" r:id="rId15"/>
    <p:sldId id="402" r:id="rId1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D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748" y="1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3376" y="-5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35305-B13A-4D54-AA37-5C48A5194BAE}" type="datetimeFigureOut">
              <a:rPr lang="fr-FR" smtClean="0"/>
              <a:t>20/02/2021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6D73C0-3EB0-493F-85BA-568868B7EB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93797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0FB7C-F83F-4EB1-9185-B24EFE9878DA}" type="datetimeFigureOut">
              <a:rPr lang="fr-FR" smtClean="0"/>
              <a:t>20/02/2021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C05AE-884A-4259-B46C-1BFBDBD962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1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05210"/>
            <a:ext cx="9144000" cy="5227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2793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val 1"/>
          <p:cNvSpPr/>
          <p:nvPr userDrawn="1"/>
        </p:nvSpPr>
        <p:spPr>
          <a:xfrm>
            <a:off x="2699792" y="699542"/>
            <a:ext cx="3744416" cy="3744416"/>
          </a:xfrm>
          <a:prstGeom prst="ellipse">
            <a:avLst/>
          </a:prstGeom>
          <a:solidFill>
            <a:schemeClr val="accent1"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19548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536" y="771550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45771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339502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915566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773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22473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179512" y="195486"/>
            <a:ext cx="1152128" cy="7200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24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104456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995686"/>
            <a:ext cx="9144000" cy="28803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631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47864" y="131536"/>
            <a:ext cx="5796136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24000" y="3465106"/>
            <a:ext cx="432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81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937417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1968708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533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95621" y="230919"/>
            <a:ext cx="3294112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3166" y="3399271"/>
            <a:ext cx="3293944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795621" y="1815095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78918" y="230919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7589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4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7041" y="1313860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07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3507854"/>
            <a:ext cx="9144000" cy="1635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4243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32000" y="158354"/>
            <a:ext cx="5557838" cy="5715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77825" y="971550"/>
            <a:ext cx="8343900" cy="39957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01051" y="4712494"/>
            <a:ext cx="631825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2C201-C571-47D8-A02A-CE1F7DAE9C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5601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32000" y="158354"/>
            <a:ext cx="5557838" cy="5715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01051" y="4712494"/>
            <a:ext cx="631825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9F808-56E8-4EE0-B1F0-7CD9129F957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07653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val 1"/>
          <p:cNvSpPr/>
          <p:nvPr userDrawn="1"/>
        </p:nvSpPr>
        <p:spPr>
          <a:xfrm>
            <a:off x="2699792" y="699542"/>
            <a:ext cx="3744416" cy="3744416"/>
          </a:xfrm>
          <a:prstGeom prst="ellipse">
            <a:avLst/>
          </a:prstGeom>
          <a:solidFill>
            <a:schemeClr val="accent1"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45663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0" y="2253238"/>
            <a:ext cx="45720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2726814"/>
            <a:ext cx="45720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 userDrawn="1"/>
        </p:nvSpPr>
        <p:spPr>
          <a:xfrm>
            <a:off x="-26321" y="4881521"/>
            <a:ext cx="2448272" cy="261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A.Aouichat</a:t>
            </a:r>
            <a:endParaRPr lang="fr-FR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1" r:id="rId3"/>
    <p:sldLayoutId id="2147483660" r:id="rId4"/>
    <p:sldLayoutId id="2147483662" r:id="rId5"/>
    <p:sldLayoutId id="2147483655" r:id="rId6"/>
    <p:sldLayoutId id="2147483663" r:id="rId7"/>
    <p:sldLayoutId id="2147483664" r:id="rId8"/>
    <p:sldLayoutId id="2147483668" r:id="rId9"/>
    <p:sldLayoutId id="2147483665" r:id="rId10"/>
    <p:sldLayoutId id="2147483670" r:id="rId11"/>
    <p:sldLayoutId id="2147483672" r:id="rId12"/>
    <p:sldLayoutId id="2147483656" r:id="rId13"/>
    <p:sldLayoutId id="2147483673" r:id="rId14"/>
    <p:sldLayoutId id="2147483674" r:id="rId15"/>
    <p:sldLayoutId id="2147483675" r:id="rId16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coursinfo.fr/wp-content/uploads/2016/04/lettre-type-ecrite.png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coursinfo.fr/wp-content/uploads/2016/04/lettre-personnalis%C3%A9e.png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108520" y="3435846"/>
            <a:ext cx="9396536" cy="792089"/>
          </a:xfrm>
          <a:ln w="19050">
            <a:noFill/>
          </a:ln>
        </p:spPr>
        <p:txBody>
          <a:bodyPr/>
          <a:lstStyle/>
          <a:p>
            <a:r>
              <a:rPr lang="en-US" altLang="ko-KR" dirty="0" err="1">
                <a:ea typeface="맑은 고딕" pitchFamily="50" charset="-127"/>
              </a:rPr>
              <a:t>Cours</a:t>
            </a:r>
            <a:r>
              <a:rPr lang="en-US" altLang="ko-KR" dirty="0">
                <a:ea typeface="맑은 고딕" pitchFamily="50" charset="-127"/>
              </a:rPr>
              <a:t> </a:t>
            </a:r>
            <a:r>
              <a:rPr lang="en-US" altLang="ko-KR">
                <a:ea typeface="맑은 고딕" pitchFamily="50" charset="-127"/>
              </a:rPr>
              <a:t>N 06 </a:t>
            </a:r>
            <a:r>
              <a:rPr lang="en-US" altLang="ko-KR" dirty="0">
                <a:ea typeface="맑은 고딕" pitchFamily="50" charset="-127"/>
              </a:rPr>
              <a:t>:</a:t>
            </a:r>
            <a:r>
              <a:rPr lang="fr-FR" altLang="ko-KR" dirty="0" err="1">
                <a:ea typeface="맑은 고딕" pitchFamily="50" charset="-127"/>
              </a:rPr>
              <a:t>PubliPostage</a:t>
            </a:r>
            <a:endParaRPr lang="fr-F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51520" y="4443958"/>
            <a:ext cx="9144000" cy="288032"/>
          </a:xfrm>
          <a:ln w="12700">
            <a:noFill/>
          </a:ln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ko-KR" dirty="0" err="1"/>
              <a:t>A.Aouichat</a:t>
            </a:r>
            <a:r>
              <a:rPr lang="en-US" altLang="ko-KR" dirty="0"/>
              <a:t>				   	asm.aouichat@gmail.com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583754" y="4371950"/>
            <a:ext cx="802069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Créer un publipostage sous Word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publipostage 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désigne une fonction des logiciels de traitement de texte permettant de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personnaliser automatiquement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les termes d’une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lettre-type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envoyée à un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ensemble de clients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ou de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prospects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informations individuelles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contenues dans le fichier des clients (la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 des données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sont intégrées (on dit aussi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fusionnées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dans la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lettre-type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ce processus permettant d’éditer autant de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lettres personnalisées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qu’il y a de clients enregistrés dans le fichier.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578" name="Picture 2" descr="principe du publipostage word">
            <a:extLst>
              <a:ext uri="{FF2B5EF4-FFF2-40B4-BE49-F238E27FC236}">
                <a16:creationId xmlns:a16="http://schemas.microsoft.com/office/drawing/2014/main" id="{959AD2CB-293D-4CF6-BD0C-8C4472FF5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2762527"/>
            <a:ext cx="3052366" cy="195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31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 Exemple de publipostage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979711" y="771550"/>
            <a:ext cx="7056785" cy="273630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Prenons l’exemple d’une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invitation à une soirée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réception pour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offrir un cadeau à un groupe de clients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d’une petite entreprise : vous êtes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responsable de l’envoi de l’invitation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à chaque client de la base clients de l’entreprise, 170 personnes en tout.</a:t>
            </a:r>
          </a:p>
          <a:p>
            <a:pPr marL="0" indent="0" algn="l">
              <a:buNone/>
            </a:pPr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Avec Word il est assez simple d’envoyer cette invitation à tous les clients, chacun </a:t>
            </a:r>
          </a:p>
          <a:p>
            <a:pPr marL="0" indent="0" algn="l">
              <a:buNone/>
            </a:pPr>
            <a:r>
              <a:rPr lang="fr-FR" sz="1500" dirty="0">
                <a:solidFill>
                  <a:srgbClr val="6161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d’entre eux recevant soit un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courrier postal personnalisé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soit un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message </a:t>
            </a:r>
          </a:p>
          <a:p>
            <a:pPr marL="0" indent="0" algn="l">
              <a:buNone/>
            </a:pPr>
            <a:r>
              <a:rPr lang="fr-FR" sz="1500" b="1" dirty="0">
                <a:solidFill>
                  <a:srgbClr val="6161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électronique personnalisé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uniquement adressé à lui.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sz="1400" b="0" i="0" dirty="0">
              <a:solidFill>
                <a:srgbClr val="616161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55039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Les 6 étapes du publipostage Word 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processus de fusion comporte les 6 étapes suivantes :</a:t>
            </a:r>
          </a:p>
          <a:p>
            <a:pPr algn="l"/>
            <a:endParaRPr lang="fr-FR" sz="1300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300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300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300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300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300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sz="1300" dirty="0">
              <a:solidFill>
                <a:srgbClr val="61616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Cliquez sur l’onglet </a:t>
            </a:r>
            <a:r>
              <a:rPr lang="fr-FR" sz="13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publipostage</a:t>
            </a:r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puis sur </a:t>
            </a:r>
            <a:r>
              <a:rPr lang="fr-FR" sz="13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démarrer la fusion et publipostage</a:t>
            </a:r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puis enfin sur </a:t>
            </a:r>
            <a:r>
              <a:rPr lang="fr-FR" sz="13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Assistant fusion et publipostage pas à pas</a:t>
            </a:r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</a:p>
          <a:p>
            <a:br>
              <a:rPr lang="fr-F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602" name="Picture 2" descr="les 6 étapes du publipostage">
            <a:extLst>
              <a:ext uri="{FF2B5EF4-FFF2-40B4-BE49-F238E27FC236}">
                <a16:creationId xmlns:a16="http://schemas.microsoft.com/office/drawing/2014/main" id="{5BBA7E24-8F40-48C4-B091-3B2BD2E9D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316" y="987574"/>
            <a:ext cx="5978821" cy="3469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982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5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Les 6 étapes du publipostage Word 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1300" b="0" i="1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étape 1 du publipostage Word : sélection du type de document</a:t>
            </a:r>
          </a:p>
          <a:p>
            <a:pPr lvl="1"/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 quel type de document travaillez vous 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3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lettres</a:t>
            </a:r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messages électroniques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enveloppes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étiquettes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répertoires</a:t>
            </a:r>
          </a:p>
          <a:p>
            <a:pPr lvl="1"/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Cliquez sur </a:t>
            </a:r>
            <a:r>
              <a:rPr lang="fr-FR" sz="13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lettre</a:t>
            </a:r>
            <a:r>
              <a:rPr lang="fr-FR" sz="13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pour envoyer une </a:t>
            </a:r>
            <a:r>
              <a:rPr lang="fr-FR" sz="13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lettre</a:t>
            </a:r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à un groupe de personnes ou cliquez sur </a:t>
            </a:r>
            <a:r>
              <a:rPr lang="fr-FR" sz="13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messages électroniques</a:t>
            </a:r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pour envoyer un</a:t>
            </a:r>
            <a:r>
              <a:rPr lang="fr-FR" sz="13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e-mail.</a:t>
            </a:r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279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6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Les 6 étapes du publipostage Word 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1300" b="0" i="1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étape 2 du publipostage Word : sélection du document de base</a:t>
            </a:r>
          </a:p>
          <a:p>
            <a:pPr lvl="1"/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Comment souhaitez vous composer vos lettres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3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utiliser le document actuel</a:t>
            </a:r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utiliser un modèle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utiliser un document existant</a:t>
            </a:r>
          </a:p>
          <a:p>
            <a:pPr lvl="1"/>
            <a:r>
              <a:rPr lang="fr-FR" sz="13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Cliquez sur </a:t>
            </a:r>
            <a:r>
              <a:rPr lang="fr-FR" sz="13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utilisez le document actuel</a:t>
            </a:r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3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75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7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Les 6 étapes du publipostage Word 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1300" b="0" i="1" dirty="0">
                <a:solidFill>
                  <a:srgbClr val="616161"/>
                </a:solidFill>
                <a:effectLst/>
                <a:latin typeface="Playfair Display"/>
              </a:rPr>
              <a:t>étape 3 du publipostage Word : sélection des destinataires</a:t>
            </a:r>
          </a:p>
          <a:p>
            <a:pPr algn="l"/>
            <a:r>
              <a:rPr lang="fr-FR" sz="1300" b="0" i="1" dirty="0">
                <a:solidFill>
                  <a:schemeClr val="accent1"/>
                </a:solidFill>
                <a:effectLst/>
                <a:latin typeface="Playfair Display"/>
              </a:rPr>
              <a:t>utilisez une liste existante</a:t>
            </a:r>
          </a:p>
          <a:p>
            <a:pPr algn="l"/>
            <a:r>
              <a:rPr lang="fr-FR" sz="1300" b="0" i="1" dirty="0">
                <a:solidFill>
                  <a:srgbClr val="616161"/>
                </a:solidFill>
                <a:effectLst/>
                <a:latin typeface="Playfair Display"/>
              </a:rPr>
              <a:t>utiliser les contacts </a:t>
            </a:r>
            <a:r>
              <a:rPr lang="fr-FR" sz="1300" b="0" i="1" dirty="0" err="1">
                <a:solidFill>
                  <a:srgbClr val="616161"/>
                </a:solidFill>
                <a:effectLst/>
                <a:latin typeface="Playfair Display"/>
              </a:rPr>
              <a:t>outlook</a:t>
            </a:r>
            <a:endParaRPr lang="fr-FR" sz="1300" b="0" i="1" dirty="0">
              <a:solidFill>
                <a:srgbClr val="616161"/>
              </a:solidFill>
              <a:effectLst/>
              <a:latin typeface="Playfair Display"/>
            </a:endParaRPr>
          </a:p>
          <a:p>
            <a:pPr algn="l"/>
            <a:r>
              <a:rPr lang="fr-FR" sz="1300" b="0" i="1" dirty="0">
                <a:solidFill>
                  <a:srgbClr val="616161"/>
                </a:solidFill>
                <a:effectLst/>
                <a:latin typeface="Playfair Display"/>
              </a:rPr>
              <a:t>saisie d’une nouvelle liste</a:t>
            </a:r>
          </a:p>
        </p:txBody>
      </p:sp>
    </p:spTree>
    <p:extLst>
      <p:ext uri="{BB962C8B-B14F-4D97-AF65-F5344CB8AC3E}">
        <p14:creationId xmlns:p14="http://schemas.microsoft.com/office/powerpoint/2010/main" val="4173966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8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Les 6 étapes du publipostage Word 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331640" y="771550"/>
            <a:ext cx="7834353" cy="2736304"/>
          </a:xfrm>
          <a:prstGeom prst="rect">
            <a:avLst/>
          </a:prstGeom>
        </p:spPr>
        <p:txBody>
          <a:bodyPr/>
          <a:lstStyle/>
          <a:p>
            <a:r>
              <a:rPr lang="fr-FR" sz="1300" b="0" i="1" dirty="0">
                <a:solidFill>
                  <a:srgbClr val="616161"/>
                </a:solidFill>
                <a:effectLst/>
                <a:latin typeface="Playfair Display"/>
              </a:rPr>
              <a:t>étape 4 du publipostage Word : écriture de votre lettre</a:t>
            </a:r>
          </a:p>
          <a:p>
            <a:pPr lvl="1"/>
            <a:r>
              <a:rPr lang="fr-FR" sz="1300" b="0" i="0" dirty="0">
                <a:solidFill>
                  <a:srgbClr val="616161"/>
                </a:solidFill>
                <a:effectLst/>
                <a:latin typeface="Open Sans"/>
              </a:rPr>
              <a:t>Si vous ne l’avez pas encore fait, écrivez votre lettre maintenant</a:t>
            </a:r>
          </a:p>
          <a:p>
            <a:pPr lvl="1"/>
            <a:r>
              <a:rPr lang="fr-FR" sz="1300" b="0" i="0" dirty="0">
                <a:solidFill>
                  <a:srgbClr val="616161"/>
                </a:solidFill>
                <a:effectLst/>
                <a:latin typeface="Open Sans"/>
              </a:rPr>
              <a:t>Pour ajouter à votre lettre des informations personnelles concernant le destinataire, cliquez  sur une zone de la lettre puis cliquez sur un des éléments ci-dessous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300" b="0" i="0" dirty="0">
                <a:solidFill>
                  <a:srgbClr val="616161"/>
                </a:solidFill>
                <a:effectLst/>
                <a:latin typeface="Open Sans"/>
              </a:rPr>
              <a:t>bloc d’adresses (ex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300" b="0" i="0" dirty="0">
                <a:solidFill>
                  <a:srgbClr val="616161"/>
                </a:solidFill>
                <a:effectLst/>
                <a:latin typeface="Open Sans"/>
              </a:rPr>
              <a:t>formule d’appel </a:t>
            </a:r>
            <a:r>
              <a:rPr lang="fr-FR" sz="1300" b="0" i="1" dirty="0">
                <a:solidFill>
                  <a:srgbClr val="616161"/>
                </a:solidFill>
                <a:effectLst/>
                <a:latin typeface="Open Sans"/>
              </a:rPr>
              <a:t>(ex : Cher Mr </a:t>
            </a:r>
            <a:r>
              <a:rPr lang="fr-FR" sz="1300" b="0" i="1" dirty="0" err="1">
                <a:solidFill>
                  <a:srgbClr val="616161"/>
                </a:solidFill>
                <a:effectLst/>
                <a:latin typeface="Open Sans"/>
              </a:rPr>
              <a:t>Lindon</a:t>
            </a:r>
            <a:r>
              <a:rPr lang="fr-FR" sz="1300" b="0" i="1" dirty="0">
                <a:solidFill>
                  <a:srgbClr val="616161"/>
                </a:solidFill>
                <a:effectLst/>
                <a:latin typeface="Open Sans"/>
              </a:rPr>
              <a:t>)</a:t>
            </a:r>
            <a:endParaRPr lang="fr-FR" sz="13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300" b="0" i="0" dirty="0">
                <a:solidFill>
                  <a:srgbClr val="616161"/>
                </a:solidFill>
                <a:effectLst/>
                <a:latin typeface="Open Sans"/>
              </a:rPr>
              <a:t>affranchissement électronique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300" b="0" i="0" dirty="0">
                <a:solidFill>
                  <a:srgbClr val="616161"/>
                </a:solidFill>
                <a:effectLst/>
                <a:latin typeface="Open Sans"/>
              </a:rPr>
              <a:t>autres éléments </a:t>
            </a:r>
            <a:r>
              <a:rPr lang="fr-FR" sz="1300" b="0" i="1" dirty="0">
                <a:solidFill>
                  <a:srgbClr val="616161"/>
                </a:solidFill>
                <a:effectLst/>
                <a:latin typeface="Open Sans"/>
              </a:rPr>
              <a:t>(ajout de champs divers de la liste des destinataires : cadeau, titre long …)</a:t>
            </a:r>
            <a:endParaRPr lang="fr-FR" sz="13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lvl="1"/>
            <a:br>
              <a:rPr lang="fr-FR" sz="1300" b="0" i="0" u="none" strike="noStrike" dirty="0">
                <a:solidFill>
                  <a:srgbClr val="6F92C3"/>
                </a:solidFill>
                <a:effectLst/>
                <a:latin typeface="Open Sans"/>
                <a:hlinkClick r:id="rId2"/>
              </a:rPr>
            </a:br>
            <a:endParaRPr lang="fr-FR" sz="1300" b="0" i="0" dirty="0">
              <a:solidFill>
                <a:srgbClr val="616161"/>
              </a:solidFill>
              <a:effectLst/>
              <a:latin typeface="Open Sans"/>
            </a:endParaRPr>
          </a:p>
        </p:txBody>
      </p:sp>
      <p:pic>
        <p:nvPicPr>
          <p:cNvPr id="26626" name="Picture 2" descr="publipostage word lettre type finalisée">
            <a:extLst>
              <a:ext uri="{FF2B5EF4-FFF2-40B4-BE49-F238E27FC236}">
                <a16:creationId xmlns:a16="http://schemas.microsoft.com/office/drawing/2014/main" id="{9E877624-3627-493D-808E-0750F6329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63" y="2715766"/>
            <a:ext cx="5563517" cy="2084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788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9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Les 6 étapes du publipostage Word 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1000" b="0" i="1" dirty="0">
                <a:solidFill>
                  <a:srgbClr val="616161"/>
                </a:solidFill>
                <a:effectLst/>
                <a:latin typeface="Playfair Display"/>
              </a:rPr>
              <a:t>étape 5 du publipostage Word : aperçu de votre lettre</a:t>
            </a:r>
          </a:p>
          <a:p>
            <a:pPr algn="l"/>
            <a:r>
              <a:rPr lang="fr-FR" sz="800" b="0" i="0" dirty="0">
                <a:solidFill>
                  <a:srgbClr val="616161"/>
                </a:solidFill>
                <a:effectLst/>
                <a:latin typeface="Open Sans"/>
              </a:rPr>
              <a:t>Une des lettres fusionnées est affichée en aperçu ici.</a:t>
            </a:r>
          </a:p>
          <a:p>
            <a:br>
              <a:rPr lang="fr-FR" sz="800" b="0" i="0" u="none" strike="noStrike" dirty="0">
                <a:solidFill>
                  <a:srgbClr val="6F92C3"/>
                </a:solidFill>
                <a:effectLst/>
                <a:latin typeface="Open Sans"/>
                <a:hlinkClick r:id="rId2"/>
              </a:rPr>
            </a:br>
            <a:endParaRPr lang="fr-FR" sz="1000" b="0" i="1" dirty="0">
              <a:solidFill>
                <a:srgbClr val="616161"/>
              </a:solidFill>
              <a:effectLst/>
              <a:latin typeface="Playfair Display"/>
            </a:endParaRPr>
          </a:p>
        </p:txBody>
      </p:sp>
      <p:pic>
        <p:nvPicPr>
          <p:cNvPr id="27650" name="Picture 2" descr="pubmipostage word : lettre personnalisée">
            <a:extLst>
              <a:ext uri="{FF2B5EF4-FFF2-40B4-BE49-F238E27FC236}">
                <a16:creationId xmlns:a16="http://schemas.microsoft.com/office/drawing/2014/main" id="{BA7D8B26-C8E1-413A-8C42-D885EBC6F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423" y="1347614"/>
            <a:ext cx="5806751" cy="313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98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10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Insérer une règle de publipostage Word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Dans notre exemple, la lettre-type dit : “vous êtes</a:t>
            </a:r>
            <a:r>
              <a:rPr lang="fr-FR" sz="1000" b="1" i="0" dirty="0">
                <a:solidFill>
                  <a:srgbClr val="616161"/>
                </a:solidFill>
                <a:effectLst/>
                <a:latin typeface="Open Sans"/>
              </a:rPr>
              <a:t> l’un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 de nos plus fidèles clients”.</a:t>
            </a:r>
            <a:endParaRPr lang="fr-FR" sz="14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400" dirty="0">
              <a:solidFill>
                <a:srgbClr val="616161"/>
              </a:solidFill>
              <a:latin typeface="Open Sans"/>
            </a:endParaRPr>
          </a:p>
          <a:p>
            <a:pPr algn="l"/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Vous avez la possibilité d’</a:t>
            </a:r>
            <a:r>
              <a:rPr lang="fr-FR" sz="1000" b="1" i="0" dirty="0">
                <a:solidFill>
                  <a:srgbClr val="616161"/>
                </a:solidFill>
                <a:effectLst/>
                <a:latin typeface="Open Sans"/>
              </a:rPr>
              <a:t>insérer une règle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 sur le mot </a:t>
            </a:r>
            <a:r>
              <a:rPr lang="fr-FR" sz="1000" b="1" i="0" dirty="0">
                <a:solidFill>
                  <a:srgbClr val="FF0000"/>
                </a:solidFill>
                <a:effectLst/>
                <a:latin typeface="Open Sans"/>
              </a:rPr>
              <a:t> l’un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 pour écrire </a:t>
            </a:r>
            <a:r>
              <a:rPr lang="fr-FR" sz="1000" b="1" i="0" dirty="0">
                <a:solidFill>
                  <a:srgbClr val="FF0000"/>
                </a:solidFill>
                <a:effectLst/>
                <a:latin typeface="Open Sans"/>
              </a:rPr>
              <a:t>l’un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 si le destinataire est </a:t>
            </a:r>
            <a:r>
              <a:rPr lang="fr-FR" sz="1000" b="1" i="0" dirty="0">
                <a:solidFill>
                  <a:srgbClr val="FF0000"/>
                </a:solidFill>
                <a:effectLst/>
                <a:latin typeface="Open Sans"/>
              </a:rPr>
              <a:t>Mr</a:t>
            </a:r>
            <a:r>
              <a:rPr lang="fr-FR" sz="1000" b="1" i="0" dirty="0">
                <a:solidFill>
                  <a:srgbClr val="616161"/>
                </a:solidFill>
                <a:effectLst/>
                <a:latin typeface="Open Sans"/>
              </a:rPr>
              <a:t> 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ou écrire </a:t>
            </a:r>
            <a:r>
              <a:rPr lang="fr-FR" sz="1000" b="1" i="0" dirty="0">
                <a:solidFill>
                  <a:srgbClr val="FF0000"/>
                </a:solidFill>
                <a:effectLst/>
                <a:latin typeface="Open Sans"/>
              </a:rPr>
              <a:t>l’une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 si le destinataire est </a:t>
            </a:r>
            <a:r>
              <a:rPr lang="fr-FR" sz="1000" b="1" i="0" dirty="0">
                <a:solidFill>
                  <a:srgbClr val="616161"/>
                </a:solidFill>
                <a:effectLst/>
                <a:latin typeface="Open Sans"/>
              </a:rPr>
              <a:t>Mme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.</a:t>
            </a:r>
          </a:p>
          <a:p>
            <a:pPr algn="l"/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Pour </a:t>
            </a:r>
            <a:r>
              <a:rPr lang="fr-FR" sz="1000" b="0" i="0" dirty="0" err="1">
                <a:solidFill>
                  <a:srgbClr val="616161"/>
                </a:solidFill>
                <a:effectLst/>
                <a:latin typeface="Open Sans"/>
              </a:rPr>
              <a:t>celà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, sélectionner le texte concerné par la règle : ici </a:t>
            </a:r>
            <a:r>
              <a:rPr lang="fr-FR" sz="1000" b="1" i="0" dirty="0">
                <a:solidFill>
                  <a:srgbClr val="FF0000"/>
                </a:solidFill>
                <a:effectLst/>
                <a:latin typeface="Open Sans"/>
              </a:rPr>
              <a:t>l’un</a:t>
            </a:r>
            <a:endParaRPr lang="fr-FR" sz="10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>
              <a:buFont typeface="+mj-lt"/>
              <a:buAutoNum type="arabicPeriod"/>
            </a:pP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cliquez ensuite sur </a:t>
            </a:r>
            <a:r>
              <a:rPr lang="fr-FR" sz="1000" b="1" i="0" dirty="0">
                <a:solidFill>
                  <a:srgbClr val="FF0000"/>
                </a:solidFill>
                <a:effectLst/>
                <a:latin typeface="Open Sans"/>
              </a:rPr>
              <a:t>Règle 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dans l’onglet </a:t>
            </a:r>
            <a:r>
              <a:rPr lang="fr-FR" sz="1000" b="1" i="0" dirty="0">
                <a:solidFill>
                  <a:srgbClr val="616161"/>
                </a:solidFill>
                <a:effectLst/>
                <a:latin typeface="Open Sans"/>
              </a:rPr>
              <a:t>publipostage</a:t>
            </a:r>
            <a:endParaRPr lang="fr-FR" sz="10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>
              <a:buFont typeface="+mj-lt"/>
              <a:buAutoNum type="arabicPeriod"/>
            </a:pP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choisissez une règle : ici </a:t>
            </a:r>
            <a:r>
              <a:rPr lang="fr-FR" sz="1000" b="1" i="0" dirty="0">
                <a:solidFill>
                  <a:srgbClr val="FF0000"/>
                </a:solidFill>
                <a:effectLst/>
                <a:latin typeface="Open Sans"/>
              </a:rPr>
              <a:t>si … alors xx sinon </a:t>
            </a:r>
            <a:r>
              <a:rPr lang="fr-FR" sz="1000" b="1" i="0" dirty="0" err="1">
                <a:solidFill>
                  <a:srgbClr val="FF0000"/>
                </a:solidFill>
                <a:effectLst/>
                <a:latin typeface="Open Sans"/>
              </a:rPr>
              <a:t>yyy</a:t>
            </a:r>
            <a:endParaRPr lang="fr-FR" sz="10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4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400" dirty="0">
              <a:solidFill>
                <a:srgbClr val="616161"/>
              </a:solidFill>
              <a:latin typeface="Open 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4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400" dirty="0">
              <a:solidFill>
                <a:srgbClr val="616161"/>
              </a:solidFill>
              <a:latin typeface="Open 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4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/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Pour </a:t>
            </a:r>
            <a:r>
              <a:rPr lang="fr-FR" sz="1000" b="0" i="0" dirty="0" err="1">
                <a:solidFill>
                  <a:srgbClr val="616161"/>
                </a:solidFill>
                <a:effectLst/>
                <a:latin typeface="Open Sans"/>
              </a:rPr>
              <a:t>celà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, sélectionner le texte concerné par la règle : ici </a:t>
            </a:r>
            <a:r>
              <a:rPr lang="fr-FR" sz="1000" b="1" i="0" dirty="0">
                <a:solidFill>
                  <a:srgbClr val="FF0000"/>
                </a:solidFill>
                <a:effectLst/>
                <a:latin typeface="Open Sans"/>
              </a:rPr>
              <a:t>l’un</a:t>
            </a:r>
            <a:endParaRPr lang="fr-FR" sz="10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>
              <a:buFont typeface="+mj-lt"/>
              <a:buAutoNum type="arabicPeriod"/>
            </a:pP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cliquez ensuite sur </a:t>
            </a:r>
            <a:r>
              <a:rPr lang="fr-FR" sz="1000" b="1" i="0" dirty="0">
                <a:solidFill>
                  <a:srgbClr val="FF0000"/>
                </a:solidFill>
                <a:effectLst/>
                <a:latin typeface="Open Sans"/>
              </a:rPr>
              <a:t>Règle </a:t>
            </a: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dans l’onglet </a:t>
            </a:r>
            <a:r>
              <a:rPr lang="fr-FR" sz="1000" b="1" i="0" dirty="0">
                <a:solidFill>
                  <a:srgbClr val="616161"/>
                </a:solidFill>
                <a:effectLst/>
                <a:latin typeface="Open Sans"/>
              </a:rPr>
              <a:t>publipostage</a:t>
            </a:r>
            <a:endParaRPr lang="fr-FR" sz="10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>
              <a:buFont typeface="+mj-lt"/>
              <a:buAutoNum type="arabicPeriod"/>
            </a:pPr>
            <a:r>
              <a:rPr lang="fr-FR" sz="1000" b="0" i="0" dirty="0">
                <a:solidFill>
                  <a:srgbClr val="616161"/>
                </a:solidFill>
                <a:effectLst/>
                <a:latin typeface="Open Sans"/>
              </a:rPr>
              <a:t>choisissez une règle : ici </a:t>
            </a:r>
            <a:r>
              <a:rPr lang="fr-FR" sz="1000" b="1" i="0" dirty="0">
                <a:solidFill>
                  <a:srgbClr val="FF0000"/>
                </a:solidFill>
                <a:effectLst/>
                <a:latin typeface="Open Sans"/>
              </a:rPr>
              <a:t>si … alors xx sinon </a:t>
            </a:r>
            <a:r>
              <a:rPr lang="fr-FR" sz="1000" b="1" i="0" dirty="0" err="1">
                <a:solidFill>
                  <a:srgbClr val="FF0000"/>
                </a:solidFill>
                <a:effectLst/>
                <a:latin typeface="Open Sans"/>
              </a:rPr>
              <a:t>yyy</a:t>
            </a:r>
            <a:endParaRPr lang="fr-FR" sz="1000" b="0" i="0" dirty="0">
              <a:solidFill>
                <a:srgbClr val="616161"/>
              </a:solidFill>
              <a:effectLst/>
              <a:latin typeface="Open 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fr-FR" sz="1400" b="0" i="0" dirty="0">
              <a:solidFill>
                <a:srgbClr val="616161"/>
              </a:solidFill>
              <a:effectLst/>
              <a:latin typeface="Open Sans"/>
            </a:endParaRPr>
          </a:p>
        </p:txBody>
      </p:sp>
      <p:pic>
        <p:nvPicPr>
          <p:cNvPr id="28674" name="Picture 2" descr="word publipostage insérer une règle">
            <a:extLst>
              <a:ext uri="{FF2B5EF4-FFF2-40B4-BE49-F238E27FC236}">
                <a16:creationId xmlns:a16="http://schemas.microsoft.com/office/drawing/2014/main" id="{4DB5D29D-DCA9-4D75-924A-5946013FF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1710271"/>
            <a:ext cx="192405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6" name="Picture 4" descr="publisposatage word : insérer une règle">
            <a:extLst>
              <a:ext uri="{FF2B5EF4-FFF2-40B4-BE49-F238E27FC236}">
                <a16:creationId xmlns:a16="http://schemas.microsoft.com/office/drawing/2014/main" id="{89404185-689A-4E20-BD07-2F7750749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080" y="771550"/>
            <a:ext cx="7558070" cy="3861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902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11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Etape 6 du publipostage Word : Fin de la fusion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r>
              <a:rPr lang="fr-FR" sz="1600" dirty="0"/>
              <a:t>La fonction de </a:t>
            </a:r>
            <a:r>
              <a:rPr lang="fr-FR" sz="1600" b="1" dirty="0"/>
              <a:t>fusion et de publipostage</a:t>
            </a:r>
            <a:r>
              <a:rPr lang="fr-FR" sz="1600" dirty="0"/>
              <a:t> est prête à </a:t>
            </a:r>
            <a:r>
              <a:rPr lang="fr-FR" sz="1600" b="1" dirty="0"/>
              <a:t>créer vos lettres</a:t>
            </a:r>
            <a:r>
              <a:rPr lang="fr-FR" sz="1600" dirty="0"/>
              <a:t> </a:t>
            </a:r>
            <a:r>
              <a:rPr lang="fr-FR" sz="1600" b="1" dirty="0"/>
              <a:t>individuelles</a:t>
            </a:r>
            <a:endParaRPr lang="fr-FR" sz="1600" dirty="0"/>
          </a:p>
          <a:p>
            <a:r>
              <a:rPr lang="fr-FR" sz="1600" dirty="0"/>
              <a:t>Pour personnaliser vos lettres une à une, cliquez sur </a:t>
            </a:r>
            <a:r>
              <a:rPr lang="fr-FR" sz="1600" b="1" dirty="0"/>
              <a:t>modifier les lettres individuelles.</a:t>
            </a:r>
            <a:endParaRPr lang="fr-FR" sz="1600" dirty="0"/>
          </a:p>
          <a:p>
            <a:r>
              <a:rPr lang="fr-FR" sz="1600" dirty="0"/>
              <a:t>Pour les modifier en une fois, revenez au document original (de base)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sz="1600" b="0" i="0" dirty="0">
              <a:solidFill>
                <a:srgbClr val="616161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69933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12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Fusionner vers l’imprimante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677161" y="771550"/>
            <a:ext cx="7488832" cy="2736304"/>
          </a:xfrm>
          <a:prstGeom prst="rect">
            <a:avLst/>
          </a:prstGeo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Cliquez sur 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Imprimer</a:t>
            </a:r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puis cliquez sur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tous </a:t>
            </a:r>
            <a:r>
              <a:rPr lang="fr-FR" sz="1500" b="0" i="1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(une lettre individuelle sera imprimée pour chaque destinataire de la liste)</a:t>
            </a:r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 sur l’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enregistrement en cours</a:t>
            </a:r>
            <a:r>
              <a:rPr lang="fr-FR" sz="1500" b="0" i="1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(pour le destinataire sur lequel l’aperçu est positionné)</a:t>
            </a:r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 sur De :</a:t>
            </a:r>
            <a:r>
              <a:rPr lang="fr-FR" sz="15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xx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à : </a:t>
            </a:r>
            <a:r>
              <a:rPr lang="fr-FR" sz="1500" b="1" i="0" dirty="0" err="1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yy</a:t>
            </a:r>
            <a:r>
              <a:rPr lang="fr-FR" sz="15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pour sélectionner un groupe de destinataires.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698" name="Picture 2" descr="Word fusionner vers Imprimante">
            <a:extLst>
              <a:ext uri="{FF2B5EF4-FFF2-40B4-BE49-F238E27FC236}">
                <a16:creationId xmlns:a16="http://schemas.microsoft.com/office/drawing/2014/main" id="{AF246D54-72F6-4205-BB1B-61633E020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2722041"/>
            <a:ext cx="241935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464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Question ?</a:t>
            </a:r>
            <a:endParaRPr lang="ko-KR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765746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Break Sl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11633</TotalTime>
  <Words>694</Words>
  <Application>Microsoft Office PowerPoint</Application>
  <PresentationFormat>Affichage à l'écran (16:9)</PresentationFormat>
  <Paragraphs>102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13</vt:i4>
      </vt:variant>
    </vt:vector>
  </HeadingPairs>
  <TitlesOfParts>
    <vt:vector size="21" baseType="lpstr">
      <vt:lpstr>Arial</vt:lpstr>
      <vt:lpstr>Calibri</vt:lpstr>
      <vt:lpstr>Open Sans</vt:lpstr>
      <vt:lpstr>Playfair Display</vt:lpstr>
      <vt:lpstr>Times New Roman</vt:lpstr>
      <vt:lpstr>Cover and End Slide Master</vt:lpstr>
      <vt:lpstr>Contents Slide Master</vt:lpstr>
      <vt:lpstr>Section Break Slide Master</vt:lpstr>
      <vt:lpstr>Présentation PowerPoint</vt:lpstr>
      <vt:lpstr>Créer un publipostage sous Word</vt:lpstr>
      <vt:lpstr> Exemple de publipostage</vt:lpstr>
      <vt:lpstr>Les 6 étapes du publipostage Word </vt:lpstr>
      <vt:lpstr>Les 6 étapes du publipostage Word </vt:lpstr>
      <vt:lpstr>Les 6 étapes du publipostage Word </vt:lpstr>
      <vt:lpstr>Les 6 étapes du publipostage Word </vt:lpstr>
      <vt:lpstr>Les 6 étapes du publipostage Word </vt:lpstr>
      <vt:lpstr>Les 6 étapes du publipostage Word </vt:lpstr>
      <vt:lpstr>Insérer une règle de publipostage Word</vt:lpstr>
      <vt:lpstr>Etape 6 du publipostage Word : Fin de la fusion</vt:lpstr>
      <vt:lpstr>Fusionner vers l’imprimante</vt:lpstr>
      <vt:lpstr>Présentation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AsmaAouichat@mdibs.onmicrosoft.com</cp:lastModifiedBy>
  <cp:revision>507</cp:revision>
  <dcterms:created xsi:type="dcterms:W3CDTF">2016-12-05T23:26:54Z</dcterms:created>
  <dcterms:modified xsi:type="dcterms:W3CDTF">2021-02-20T19:16:12Z</dcterms:modified>
</cp:coreProperties>
</file>